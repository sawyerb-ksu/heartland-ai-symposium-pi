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JetBrains Mono" panose="020B0604020202020204" charset="0"/>
      <p:regular r:id="rId19"/>
      <p:bold r:id="rId20"/>
    </p:embeddedFont>
    <p:embeddedFont>
      <p:font typeface="Lato" panose="020F0502020204030203" pitchFamily="34" charset="0"/>
      <p:regular r:id="rId21"/>
      <p:bold r:id="rId22"/>
      <p: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226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31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Windows PowerShell. Once loaded, paste the following command into your terminal: powershell -c "irm https://pi.dev/install.ps1 | iex" This will start the download of pi onto your device. If you do not already have Node.js installed on your device, pi will ask if it can install it for you. Once everything is installed you will need to restart your terminal to use pi. Or you can update the path for pi using the following command: $env:PATH = "C:\Users\username\AppData\Local\pi-node\current;$env:PATH" With the installation of pi, a .pi\agent directory will be created for you that contains the following important JSON files. You can use pi to modify these files, or you can edit them directly.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https://pi.dev/docs/latest/providers Pi supports subscription-based providers via OAuth and API key providers via environment variables or the auth file. Subscription providers: use /login in interactive mode and then choose your provider. Pi will walk you through the required steps to integrate your chosen provider. Use /logout to clear your credentials. API key providers: use /login in interactive mode and select a provider to store an API key in auth.json, or set credentials via an environment variable, listed in pi's provider documentation: https://pi.dev/docs/latest/providers Custom providers via models.json: add Ollama, LM Studio, vLLM, or any provider that speaks a supported API (OpenAI Completions, OpenAI Responses, Anthropic Messages, Google Generative AI). See models.md. Via extensions: for providers that need custom API implementations or OAuth flows, create an extension. See custom-provider.md and examples/extensions/custom-provider-gitlab-duo.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Navigate to the models.json file that pi created: C:\Users\username\.pi\agent If pi did not create this file, go ahead and create it manually using VS Code, Notepad++, or Notepad. Copy the JSON code and paste it into the models.json file. Go to Library GPT: https://gpt.lib.k-state.edu/ Navigate to Settings &gt; Profile &gt; Account &gt; Api keys &gt; Show Copy your API key. Replace YourAPIKeyWithTheQuotationMarks within models.json with your API key from https://gpt.lib.k-state.edu/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https://ollama.com/download https://docs.ollama.com/quickstart https://docs.ollama.com/integrations/pi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your local Ollama LLM installed within Pi, your models.json file will look like the following.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the Model Context Protocol, is an open standard that lets an agent talk to outside tools and data through "servers": GitHub, a filesystem, a database, a browser, a documentation site. A server written once works in any harness that speaks MCP, so the same servers you use with Claude Code or VS Code work in Pi. Pi used to need the pi-mcp-adapter extension for this. MCP is now part of core Pi, so there's nothing extra to install. Adding a server: pi mcp add &lt;name&gt; -- &lt;command&gt; for a local server that runs on your machine, or pi mcp add &lt;name&gt; --url &lt;address&gt; for a remote one. pi mcp list confirms each server connects. Remote servers that use OAuth sign in with pi mcp login &lt;name&gt;. Where it's stored: ~/.pi/agent/mcp.json applies to you everywhere; adding -l writes to .pi/mcp.json for the current project only (Pi asks you to trust the project before reading it). Inside a session, /mcp shows your servers and lets you sign in, reconnect, and turn servers on or off. If you edit mcp.json outside a session, run /reload. The command block uses Filesystem as the local example and Microsoft Learn as the remote one; the next slide shows more servers. Keeping Pi minimal: by default MCP tools aren't loaded into the prompt up front. The agent finds and calls them only when a task needs them, so adding servers doesn't bloat every request.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MCP servers worth knowing, each with the kind of request it makes possible. GitHub: read repositories, file issues and review pull requests. Filesystem: read and write files, limited to the folders you give it. This is the local example on the previous slide. Playwright: lets the agent open and drive a real browser, so it can click through pages, fill forms and check links. Context7: pulls current documentation for code libraries and frameworks, so the model isn't working from outdated training data. Microsoft Learn: official Microsoft and Azure documentation, no sign-in needed. This is the remote example on the previous slide. Notion: search and edit your Notion pages and databases (signs in with OAuth). Any of these is added the same way: pi mcp add, then pi mcp list to confirm it connects.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reusable playbook: written instructions, plus any scripts or templates, that teach the agent how to do one specific kind of task the way you want it done. Think of it as the onboarding doc you'd hand a new colleague, packaged so the agent can pick it up on its own. Where MCP gives Pi new tools (a browser, GitHub, your files), skills teach it how and when to use them: your report format, your naming conventions, the steps of a checklist. Each skill is just a folder with a SKILL.md file. The top of that file has a name and a one-line description. Pi only reads those two lines up front; when a task matches the description, it loads the full instructions. That keeps the prompt small even with many skills installed. Skills are an open format, so a skill written for Claude also works in Pi, Codex, Copilot and other harnesses. Anything tied to one harness, like a specific tool name or script, may need a small tweak. Pi looks for skills in ~/.pi/agent/skills for you everywhere, .pi/skills for one project, and .agents/skills for a folder shared across harnesses. Use pi --skill with a path to load one for a single run, or /skill:name in a session to force a skill to load.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hands-on part. Everyone should already have Pi installed and connected to Library GPT from earlier. The kit has two folders. starter is where you work. finished is the completed version if you fall behind. The scans and the scanning log are invented. There's no real or patron data in them, and that's on purpose: practice on fake data first. Before starting, have everyone open the scans folder. Names like scan (3).pdf and Document_final_FINAL.pdf are the problem this skill fixes. Timing: about 2 minutes to download and open, 6 to fill in the skill, 4 to run it, and 3 to compare and tweak. At the 10-minute mark, anyone who hasn't run Pi yet should switch to the finished folder.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skill is a folder with one SKILL.md file. The part between the dashes at the top is what Pi reads up front: a name and a description. The description is how Pi decides when to use the skill, so say plainly when it applies, for example "when the user asks to rename, clean up or organize scans." The numbered steps below are the instructions Pi follows once it picks the skill. Write them like you'd explain the job to a new colleague. The slide shows a shortened version; the real file also spells out how to write dates and handle duplicate names. Two rules matter most: don't guess dates or titles, and show the plan before renaming anything. No VS Code? Notepad works: notepad .agents\skills\scan-renamer\SKILL.md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 asks about trust because this folder contains a project skill. Skills can tell the model to run scripts or change files, so only trust skills you've read. This one you wrote yourselves, and it does change files, which is why it shows a plan and waits for your yes. If Pi doesn't pick up the skill on its own, /skill:scan-renamer loads it directly. That's also a quick way to tell whether the description was the problem. While Pi works, watch the transcript: you'll see it read SKILL.md, the scanning log and the folder, then stop to ask. That's the agent loop from earlier, with your instructions in charge. Step 3 is the important habit: check the plan against the source before you say yes. Point out untitled.png. It isn't in the log, so Pi should leave it alone. Anyone done early can try the stretch step: ask Pi to undo the renames using rename-log.md, edit one rule, run /reload so Pi re-reads the skill, and ask again.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at the 10-minute mark, or any time someone is stuck on setup. The finished folder has the same scans and a completed skill. It only takes three commands: go to the folder, start Pi, say yes to trust, and load the skill. If Pi or Library GPT isn't working on someone's laptop, they can still open rename-log.example.md next to the scans folder and follow along. The goal is to see how a short set of instructions turns into a repeatable job. Walk through the rows: the log date becomes YYYY-MM-DD, the duplicate title gets -2, the blank date becomes undated, and untitled.png is skipped because it isn't in the log. A good skill leaves alone what it doesn't know instead of guessing. Ask the room: did anyone's model guess a name for untitled.png?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889000"/>
            <a:ext cx="10363200" cy="530860"/>
          </a:xfrm>
          <a:prstGeom prst="rect">
            <a:avLst/>
          </a:prstGeom>
          <a:noFill/>
          <a:ln/>
        </p:spPr>
        <p:txBody>
          <a:bodyPr wrap="square" lIns="0" tIns="0" rIns="0" bIns="0" rtlCol="0" anchor="t"/>
          <a:lstStyle>
            <a:lvl1pPr marL="0" indent="0" algn="l">
              <a:lnSpc>
                <a:spcPct val="115000"/>
              </a:lnSpc>
              <a:buNone/>
              <a:defRPr lang="en-US" sz="3800" dirty="0">
                <a:solidFill>
                  <a:srgbClr val="1F1A24"/>
                </a:solidFill>
                <a:latin typeface="Lato" pitchFamily="34" charset="0"/>
                <a:ea typeface="Lato" pitchFamily="34" charset="-122"/>
                <a:cs typeface="Lato"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914400" y="1724660"/>
            <a:ext cx="10464800" cy="4320540"/>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Lato" pitchFamily="34" charset="0"/>
                <a:ea typeface="Lato" pitchFamily="34" charset="-122"/>
                <a:cs typeface="La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889000"/>
            <a:ext cx="10363200" cy="530860"/>
          </a:xfrm>
          <a:prstGeom prst="rect">
            <a:avLst/>
          </a:prstGeom>
          <a:noFill/>
          <a:ln/>
        </p:spPr>
        <p:txBody>
          <a:bodyPr wrap="square" lIns="0" tIns="0" rIns="0" bIns="0" rtlCol="0" anchor="t"/>
          <a:lstStyle>
            <a:lvl1pPr marL="0" indent="0" algn="l">
              <a:lnSpc>
                <a:spcPct val="115000"/>
              </a:lnSpc>
              <a:buNone/>
              <a:defRPr lang="en-US" sz="3800" dirty="0">
                <a:solidFill>
                  <a:srgbClr val="1F1A24"/>
                </a:solidFill>
                <a:latin typeface="Lato" pitchFamily="34" charset="0"/>
                <a:ea typeface="Lato" pitchFamily="34" charset="-122"/>
                <a:cs typeface="Lato"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914400" y="1724660"/>
            <a:ext cx="10464800" cy="4320540"/>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Lato" pitchFamily="34" charset="0"/>
                <a:ea typeface="Lato" pitchFamily="34" charset="-122"/>
                <a:cs typeface="La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pi.dev/docs/latest/sessions" TargetMode="External"/><Relationship Id="rId5" Type="http://schemas.openxmlformats.org/officeDocument/2006/relationships/hyperlink" Target="https://pi.dev/docs/latest/settings" TargetMode="External"/><Relationship Id="rId4" Type="http://schemas.openxmlformats.org/officeDocument/2006/relationships/hyperlink" Target="https://pi.dev/docs/lates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gpt.lib.k-state.edu/"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1125220" y="1967230"/>
            <a:ext cx="9941560" cy="1953260"/>
          </a:xfrm>
          <a:prstGeom prst="rect">
            <a:avLst/>
          </a:prstGeom>
          <a:noFill/>
          <a:ln/>
        </p:spPr>
        <p:txBody>
          <a:bodyPr wrap="square" lIns="0" tIns="0" rIns="0" bIns="0" rtlCol="0" anchor="t">
            <a:normAutofit/>
          </a:bodyPr>
          <a:lstStyle/>
          <a:p>
            <a:pPr marL="0" indent="0" algn="ctr">
              <a:lnSpc>
                <a:spcPts val="5060"/>
              </a:lnSpc>
              <a:buNone/>
            </a:pPr>
            <a:r>
              <a:rPr lang="en-US" sz="4400" b="0" i="0" dirty="0">
                <a:solidFill>
                  <a:srgbClr val="1F1A24"/>
                </a:solidFill>
                <a:latin typeface="Lato" pitchFamily="34" charset="0"/>
                <a:ea typeface="Lato" pitchFamily="34" charset="-122"/>
                <a:cs typeface="Lato" pitchFamily="34" charset="-120"/>
              </a:rPr>
              <a:t>The wait for Pi is over. How a minimalistic agent can adapt to your workflows with ice cream on top</a:t>
            </a:r>
            <a:endParaRPr lang="en-US" sz="4400" dirty="0"/>
          </a:p>
        </p:txBody>
      </p:sp>
      <p:sp>
        <p:nvSpPr>
          <p:cNvPr id="4" name="Text 1"/>
          <p:cNvSpPr/>
          <p:nvPr/>
        </p:nvSpPr>
        <p:spPr>
          <a:xfrm>
            <a:off x="3970409" y="4149090"/>
            <a:ext cx="4251103" cy="355600"/>
          </a:xfrm>
          <a:prstGeom prst="rect">
            <a:avLst/>
          </a:prstGeom>
          <a:noFill/>
          <a:ln/>
        </p:spPr>
        <p:txBody>
          <a:bodyPr wrap="square" lIns="0" tIns="0" rIns="0" bIns="0" rtlCol="0" anchor="t">
            <a:normAutofit/>
          </a:bodyPr>
          <a:lstStyle/>
          <a:p>
            <a:pPr marL="0" indent="0" algn="ctr">
              <a:lnSpc>
                <a:spcPts val="2600"/>
              </a:lnSpc>
              <a:buNone/>
            </a:pPr>
            <a:r>
              <a:rPr lang="en-US" sz="2000" dirty="0">
                <a:solidFill>
                  <a:srgbClr val="1F1A24"/>
                </a:solidFill>
                <a:latin typeface="Lato" pitchFamily="34" charset="0"/>
                <a:ea typeface="Lato" pitchFamily="34" charset="-122"/>
                <a:cs typeface="Lato" pitchFamily="34" charset="-120"/>
              </a:rPr>
              <a:t>Sawyer Borror, Raymond Deiser</a:t>
            </a:r>
            <a:endParaRPr lang="en-US" sz="2000" dirty="0"/>
          </a:p>
        </p:txBody>
      </p:sp>
      <p:sp>
        <p:nvSpPr>
          <p:cNvPr id="5" name="Text 2"/>
          <p:cNvSpPr/>
          <p:nvPr/>
        </p:nvSpPr>
        <p:spPr>
          <a:xfrm>
            <a:off x="4122904" y="4530090"/>
            <a:ext cx="3946112" cy="322580"/>
          </a:xfrm>
          <a:prstGeom prst="rect">
            <a:avLst/>
          </a:prstGeom>
          <a:noFill/>
          <a:ln/>
        </p:spPr>
        <p:txBody>
          <a:bodyPr wrap="square" lIns="0" tIns="0" rIns="0" bIns="0" rtlCol="0" anchor="t">
            <a:normAutofit/>
          </a:bodyPr>
          <a:lstStyle/>
          <a:p>
            <a:pPr marL="0" indent="0" algn="ctr">
              <a:lnSpc>
                <a:spcPts val="2340"/>
              </a:lnSpc>
              <a:buNone/>
            </a:pPr>
            <a:r>
              <a:rPr lang="en-US" sz="1800" dirty="0">
                <a:solidFill>
                  <a:srgbClr val="512888"/>
                </a:solidFill>
                <a:latin typeface="Lato" pitchFamily="34" charset="0"/>
                <a:ea typeface="Lato" pitchFamily="34" charset="-122"/>
                <a:cs typeface="Lato" pitchFamily="34" charset="-120"/>
              </a:rPr>
              <a:t>Kansas State University Libraries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Installation and Documentation Review</a:t>
            </a:r>
            <a:endParaRPr lang="en-US" sz="3800" dirty="0"/>
          </a:p>
        </p:txBody>
      </p:sp>
      <p:sp>
        <p:nvSpPr>
          <p:cNvPr id="4" name="Text 1"/>
          <p:cNvSpPr/>
          <p:nvPr/>
        </p:nvSpPr>
        <p:spPr>
          <a:xfrm>
            <a:off x="914400" y="1673860"/>
            <a:ext cx="1067409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Everything we cover today lives in the docs: </a:t>
            </a:r>
            <a:r>
              <a:rPr lang="en-US" sz="1700" u="sng" dirty="0">
                <a:solidFill>
                  <a:srgbClr val="1F1A24"/>
                </a:solidFill>
                <a:latin typeface="Lato" pitchFamily="34" charset="0"/>
                <a:ea typeface="Lato" pitchFamily="34" charset="-122"/>
                <a:cs typeface="Lato" pitchFamily="34" charset="-120"/>
                <a:hlinkClick r:id="rId4">
                  <a:extLst>
                    <a:ext uri="{A12FA001-AC4F-418D-AE19-62706E023703}">
                      <ahyp:hlinkClr xmlns:ahyp="http://schemas.microsoft.com/office/drawing/2018/hyperlinkcolor" val="tx"/>
                    </a:ext>
                  </a:extLst>
                </a:hlinkClick>
              </a:rPr>
              <a:t>pi.dev/docs/latest</a:t>
            </a:r>
            <a:endParaRPr lang="en-US" sz="1700" dirty="0"/>
          </a:p>
        </p:txBody>
      </p:sp>
      <p:sp>
        <p:nvSpPr>
          <p:cNvPr id="5" name="Shape 2"/>
          <p:cNvSpPr/>
          <p:nvPr/>
        </p:nvSpPr>
        <p:spPr>
          <a:xfrm>
            <a:off x="914400" y="2230120"/>
            <a:ext cx="3318907" cy="1483360"/>
          </a:xfrm>
          <a:prstGeom prst="roundRect">
            <a:avLst>
              <a:gd name="adj" fmla="val 6849"/>
            </a:avLst>
          </a:prstGeom>
          <a:solidFill>
            <a:srgbClr val="F4F0F9"/>
          </a:solidFill>
          <a:ln/>
        </p:spPr>
        <p:txBody>
          <a:bodyPr/>
          <a:lstStyle/>
          <a:p>
            <a:endParaRPr lang="en-US"/>
          </a:p>
        </p:txBody>
      </p:sp>
      <p:sp>
        <p:nvSpPr>
          <p:cNvPr id="6" name="Shape 3"/>
          <p:cNvSpPr/>
          <p:nvPr/>
        </p:nvSpPr>
        <p:spPr>
          <a:xfrm>
            <a:off x="914400" y="2230120"/>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7" name="Text 4"/>
          <p:cNvSpPr/>
          <p:nvPr/>
        </p:nvSpPr>
        <p:spPr>
          <a:xfrm>
            <a:off x="1168400" y="251968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Installation</a:t>
            </a:r>
            <a:endParaRPr lang="en-US" sz="2000" dirty="0"/>
          </a:p>
        </p:txBody>
      </p:sp>
      <p:sp>
        <p:nvSpPr>
          <p:cNvPr id="8" name="Text 5"/>
          <p:cNvSpPr/>
          <p:nvPr/>
        </p:nvSpPr>
        <p:spPr>
          <a:xfrm>
            <a:off x="1168400" y="2926080"/>
            <a:ext cx="28952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cURL, PowerShell, npm, pnpm or Bun</a:t>
            </a:r>
            <a:endParaRPr lang="en-US" sz="1500" dirty="0"/>
          </a:p>
        </p:txBody>
      </p:sp>
      <p:sp>
        <p:nvSpPr>
          <p:cNvPr id="9" name="Shape 6"/>
          <p:cNvSpPr/>
          <p:nvPr/>
        </p:nvSpPr>
        <p:spPr>
          <a:xfrm>
            <a:off x="4436507" y="2230120"/>
            <a:ext cx="3318986" cy="1483360"/>
          </a:xfrm>
          <a:prstGeom prst="roundRect">
            <a:avLst>
              <a:gd name="adj" fmla="val 6849"/>
            </a:avLst>
          </a:prstGeom>
          <a:solidFill>
            <a:srgbClr val="F4F0F9"/>
          </a:solidFill>
          <a:ln/>
        </p:spPr>
        <p:txBody>
          <a:bodyPr/>
          <a:lstStyle/>
          <a:p>
            <a:endParaRPr lang="en-US"/>
          </a:p>
        </p:txBody>
      </p:sp>
      <p:sp>
        <p:nvSpPr>
          <p:cNvPr id="10" name="Shape 7"/>
          <p:cNvSpPr/>
          <p:nvPr/>
        </p:nvSpPr>
        <p:spPr>
          <a:xfrm>
            <a:off x="4436507" y="2230120"/>
            <a:ext cx="3318986" cy="1483360"/>
          </a:xfrm>
          <a:custGeom>
            <a:avLst/>
            <a:gdLst/>
            <a:ahLst/>
            <a:cxnLst/>
            <a:rect l="l" t="t" r="r" b="b"/>
            <a:pathLst>
              <a:path w="3318986" h="1483360">
                <a:moveTo>
                  <a:pt x="0" y="101600"/>
                </a:moveTo>
                <a:lnTo>
                  <a:pt x="0" y="101600"/>
                </a:lnTo>
                <a:arcTo wR="101600" hR="101600" stAng="10800000" swAng="5400000"/>
                <a:lnTo>
                  <a:pt x="3217386" y="0"/>
                </a:lnTo>
                <a:arcTo wR="101600" hR="101600" stAng="16200000" swAng="5400000"/>
                <a:lnTo>
                  <a:pt x="3318986"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90507" y="2519680"/>
            <a:ext cx="289531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Settings</a:t>
            </a:r>
            <a:endParaRPr lang="en-US" sz="2000" dirty="0"/>
          </a:p>
        </p:txBody>
      </p:sp>
      <p:sp>
        <p:nvSpPr>
          <p:cNvPr id="12" name="Text 9"/>
          <p:cNvSpPr/>
          <p:nvPr/>
        </p:nvSpPr>
        <p:spPr>
          <a:xfrm>
            <a:off x="4690507" y="2926080"/>
            <a:ext cx="2895316" cy="292100"/>
          </a:xfrm>
          <a:prstGeom prst="rect">
            <a:avLst/>
          </a:prstGeom>
          <a:noFill/>
          <a:ln/>
        </p:spPr>
        <p:txBody>
          <a:bodyPr wrap="square" lIns="0" tIns="0" rIns="0" bIns="0" rtlCol="0" anchor="t">
            <a:normAutofit/>
          </a:bodyPr>
          <a:lstStyle/>
          <a:p>
            <a:pPr marL="0" indent="0" algn="l">
              <a:lnSpc>
                <a:spcPts val="2100"/>
              </a:lnSpc>
              <a:buNone/>
            </a:pPr>
            <a:r>
              <a:rPr lang="en-US" sz="1500" u="sng" dirty="0">
                <a:solidFill>
                  <a:srgbClr val="1F1A24"/>
                </a:solidFill>
                <a:latin typeface="Lato" pitchFamily="34" charset="0"/>
                <a:ea typeface="Lato" pitchFamily="34" charset="-122"/>
                <a:cs typeface="Lato" pitchFamily="34" charset="-120"/>
                <a:hlinkClick r:id="rId5">
                  <a:extLst>
                    <a:ext uri="{A12FA001-AC4F-418D-AE19-62706E023703}">
                      <ahyp:hlinkClr xmlns:ahyp="http://schemas.microsoft.com/office/drawing/2018/hyperlinkcolor" val="tx"/>
                    </a:ext>
                  </a:extLst>
                </a:hlinkClick>
              </a:rPr>
              <a:t>pi.dev/docs/latest/settings</a:t>
            </a:r>
            <a:endParaRPr lang="en-US" sz="1500" dirty="0"/>
          </a:p>
        </p:txBody>
      </p:sp>
      <p:sp>
        <p:nvSpPr>
          <p:cNvPr id="13" name="Shape 10"/>
          <p:cNvSpPr/>
          <p:nvPr/>
        </p:nvSpPr>
        <p:spPr>
          <a:xfrm>
            <a:off x="7958693" y="2230120"/>
            <a:ext cx="3318907" cy="1483360"/>
          </a:xfrm>
          <a:prstGeom prst="roundRect">
            <a:avLst>
              <a:gd name="adj" fmla="val 6849"/>
            </a:avLst>
          </a:prstGeom>
          <a:solidFill>
            <a:srgbClr val="F4F0F9"/>
          </a:solidFill>
          <a:ln/>
        </p:spPr>
        <p:txBody>
          <a:bodyPr/>
          <a:lstStyle/>
          <a:p>
            <a:endParaRPr lang="en-US"/>
          </a:p>
        </p:txBody>
      </p:sp>
      <p:sp>
        <p:nvSpPr>
          <p:cNvPr id="14" name="Shape 11"/>
          <p:cNvSpPr/>
          <p:nvPr/>
        </p:nvSpPr>
        <p:spPr>
          <a:xfrm>
            <a:off x="7958693" y="2230120"/>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5" name="Text 12"/>
          <p:cNvSpPr/>
          <p:nvPr/>
        </p:nvSpPr>
        <p:spPr>
          <a:xfrm>
            <a:off x="8212693" y="251968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Sessions and storage</a:t>
            </a:r>
            <a:endParaRPr lang="en-US" sz="2000" dirty="0"/>
          </a:p>
        </p:txBody>
      </p:sp>
      <p:sp>
        <p:nvSpPr>
          <p:cNvPr id="16" name="Text 13"/>
          <p:cNvSpPr/>
          <p:nvPr/>
        </p:nvSpPr>
        <p:spPr>
          <a:xfrm>
            <a:off x="8212693" y="2926080"/>
            <a:ext cx="2895234" cy="292100"/>
          </a:xfrm>
          <a:prstGeom prst="rect">
            <a:avLst/>
          </a:prstGeom>
          <a:noFill/>
          <a:ln/>
        </p:spPr>
        <p:txBody>
          <a:bodyPr wrap="square" lIns="0" tIns="0" rIns="0" bIns="0" rtlCol="0" anchor="t">
            <a:normAutofit/>
          </a:bodyPr>
          <a:lstStyle/>
          <a:p>
            <a:pPr marL="0" indent="0" algn="l">
              <a:lnSpc>
                <a:spcPts val="2100"/>
              </a:lnSpc>
              <a:buNone/>
            </a:pPr>
            <a:r>
              <a:rPr lang="en-US" sz="1500" u="sng" dirty="0">
                <a:solidFill>
                  <a:srgbClr val="1F1A24"/>
                </a:solidFill>
                <a:latin typeface="Lato" pitchFamily="34" charset="0"/>
                <a:ea typeface="Lato" pitchFamily="34" charset="-122"/>
                <a:cs typeface="Lato" pitchFamily="34" charset="-120"/>
                <a:hlinkClick r:id="rId6">
                  <a:extLst>
                    <a:ext uri="{A12FA001-AC4F-418D-AE19-62706E023703}">
                      <ahyp:hlinkClr xmlns:ahyp="http://schemas.microsoft.com/office/drawing/2018/hyperlinkcolor" val="tx"/>
                    </a:ext>
                  </a:extLst>
                </a:hlinkClick>
              </a:rPr>
              <a:t>pi.dev/docs/latest/sessions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PowerShell Installation</a:t>
            </a:r>
            <a:endParaRPr lang="en-US" sz="3800" dirty="0"/>
          </a:p>
        </p:txBody>
      </p:sp>
      <p:sp>
        <p:nvSpPr>
          <p:cNvPr id="4" name="Text 1"/>
          <p:cNvSpPr/>
          <p:nvPr/>
        </p:nvSpPr>
        <p:spPr>
          <a:xfrm>
            <a:off x="914400" y="155956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Open Windows PowerShell and run the installer:</a:t>
            </a:r>
            <a:endParaRPr lang="en-US" sz="1600" dirty="0"/>
          </a:p>
        </p:txBody>
      </p:sp>
      <p:sp>
        <p:nvSpPr>
          <p:cNvPr id="5" name="Text 2"/>
          <p:cNvSpPr/>
          <p:nvPr/>
        </p:nvSpPr>
        <p:spPr>
          <a:xfrm>
            <a:off x="914400" y="197358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powershell -c "irm https://pi.dev/install.ps1 | iex"</a:t>
            </a:r>
            <a:endParaRPr lang="en-US" sz="1300" dirty="0"/>
          </a:p>
        </p:txBody>
      </p:sp>
      <p:sp>
        <p:nvSpPr>
          <p:cNvPr id="6" name="Text 3"/>
          <p:cNvSpPr/>
          <p:nvPr/>
        </p:nvSpPr>
        <p:spPr>
          <a:xfrm>
            <a:off x="914400" y="253873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Pi needs Node.js 22.19.0 or newer and npm. If they're missing, the installer asks to install them.</a:t>
            </a:r>
            <a:endParaRPr lang="en-US" sz="1600" dirty="0"/>
          </a:p>
        </p:txBody>
      </p:sp>
      <p:sp>
        <p:nvSpPr>
          <p:cNvPr id="7" name="Text 4"/>
          <p:cNvSpPr/>
          <p:nvPr/>
        </p:nvSpPr>
        <p:spPr>
          <a:xfrm>
            <a:off x="914400" y="295275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Restart the terminal and run </a:t>
            </a:r>
            <a:r>
              <a:rPr lang="en-US" sz="1600" b="1" dirty="0">
                <a:solidFill>
                  <a:srgbClr val="1F1A24"/>
                </a:solidFill>
                <a:latin typeface="Lato" pitchFamily="34" charset="0"/>
                <a:ea typeface="Lato" pitchFamily="34" charset="-122"/>
                <a:cs typeface="Lato" pitchFamily="34" charset="-120"/>
              </a:rPr>
              <a:t>pi</a:t>
            </a:r>
            <a:r>
              <a:rPr lang="en-US" sz="1600" dirty="0">
                <a:solidFill>
                  <a:srgbClr val="1F1A24"/>
                </a:solidFill>
                <a:latin typeface="Lato" pitchFamily="34" charset="0"/>
                <a:ea typeface="Lato" pitchFamily="34" charset="-122"/>
                <a:cs typeface="Lato" pitchFamily="34" charset="-120"/>
              </a:rPr>
              <a:t>. Still not found? Update PATH:</a:t>
            </a:r>
            <a:endParaRPr lang="en-US" sz="1600" dirty="0"/>
          </a:p>
        </p:txBody>
      </p:sp>
      <p:sp>
        <p:nvSpPr>
          <p:cNvPr id="8" name="Text 5"/>
          <p:cNvSpPr/>
          <p:nvPr/>
        </p:nvSpPr>
        <p:spPr>
          <a:xfrm>
            <a:off x="914400" y="336677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$env:PATH = "C:\Users\username\AppData\Local\pi-node\current;$env:PATH"</a:t>
            </a:r>
            <a:endParaRPr lang="en-US" sz="1300" dirty="0"/>
          </a:p>
        </p:txBody>
      </p:sp>
      <p:sp>
        <p:nvSpPr>
          <p:cNvPr id="9" name="Text 6"/>
          <p:cNvSpPr/>
          <p:nvPr/>
        </p:nvSpPr>
        <p:spPr>
          <a:xfrm>
            <a:off x="914400" y="393192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4.</a:t>
            </a:r>
            <a:r>
              <a:rPr lang="en-US" sz="1600" dirty="0">
                <a:solidFill>
                  <a:srgbClr val="1F1A24"/>
                </a:solidFill>
                <a:latin typeface="Lato" pitchFamily="34" charset="0"/>
                <a:ea typeface="Lato" pitchFamily="34" charset="-122"/>
                <a:cs typeface="Lato" pitchFamily="34" charset="-120"/>
              </a:rPr>
              <a:t> Pi's config lives in </a:t>
            </a:r>
            <a:r>
              <a:rPr lang="en-US" sz="1600" b="1" dirty="0">
                <a:solidFill>
                  <a:srgbClr val="1F1A24"/>
                </a:solidFill>
                <a:latin typeface="Lato" pitchFamily="34" charset="0"/>
                <a:ea typeface="Lato" pitchFamily="34" charset="-122"/>
                <a:cs typeface="Lato" pitchFamily="34" charset="-120"/>
              </a:rPr>
              <a:t>C:\Users\username\.pi\agent</a:t>
            </a:r>
            <a:endParaRPr lang="en-US" sz="1600" dirty="0"/>
          </a:p>
        </p:txBody>
      </p:sp>
      <p:sp>
        <p:nvSpPr>
          <p:cNvPr id="10" name="Text 7"/>
          <p:cNvSpPr/>
          <p:nvPr/>
        </p:nvSpPr>
        <p:spPr>
          <a:xfrm>
            <a:off x="914400" y="4345941"/>
            <a:ext cx="1196340" cy="358140"/>
          </a:xfrm>
          <a:prstGeom prst="roundRect">
            <a:avLst>
              <a:gd name="adj" fmla="val 17730"/>
            </a:avLst>
          </a:prstGeom>
          <a:solidFill>
            <a:srgbClr val="F4F0F9"/>
          </a:solidFill>
          <a:ln/>
        </p:spPr>
        <p:txBody>
          <a:bodyPr wrap="none" lIns="0" tIns="0" rIns="0" bIns="0" rtlCol="0" anchor="ctr">
            <a:normAutofit/>
          </a:bodyPr>
          <a:lstStyle/>
          <a:p>
            <a:pPr marL="0" indent="0" algn="ctr">
              <a:lnSpc>
                <a:spcPts val="1820"/>
              </a:lnSpc>
              <a:buNone/>
            </a:pPr>
            <a:r>
              <a:rPr lang="en-US" sz="1300" dirty="0">
                <a:solidFill>
                  <a:srgbClr val="512888"/>
                </a:solidFill>
                <a:latin typeface="JetBrains Mono" pitchFamily="49" charset="0"/>
                <a:ea typeface="JetBrains Mono" pitchFamily="49" charset="-122"/>
                <a:cs typeface="JetBrains Mono" pitchFamily="49" charset="-120"/>
              </a:rPr>
              <a:t>auth.json</a:t>
            </a:r>
            <a:endParaRPr lang="en-US" sz="1300" dirty="0"/>
          </a:p>
        </p:txBody>
      </p:sp>
      <p:sp>
        <p:nvSpPr>
          <p:cNvPr id="11" name="Text 8"/>
          <p:cNvSpPr/>
          <p:nvPr/>
        </p:nvSpPr>
        <p:spPr>
          <a:xfrm>
            <a:off x="2212340" y="4345941"/>
            <a:ext cx="1394460" cy="358140"/>
          </a:xfrm>
          <a:prstGeom prst="roundRect">
            <a:avLst>
              <a:gd name="adj" fmla="val 17730"/>
            </a:avLst>
          </a:prstGeom>
          <a:solidFill>
            <a:srgbClr val="F4F0F9"/>
          </a:solidFill>
          <a:ln/>
        </p:spPr>
        <p:txBody>
          <a:bodyPr wrap="none" lIns="0" tIns="0" rIns="0" bIns="0" rtlCol="0" anchor="ctr">
            <a:normAutofit/>
          </a:bodyPr>
          <a:lstStyle/>
          <a:p>
            <a:pPr marL="0" indent="0" algn="ctr">
              <a:lnSpc>
                <a:spcPts val="1820"/>
              </a:lnSpc>
              <a:buNone/>
            </a:pPr>
            <a:r>
              <a:rPr lang="en-US" sz="1300" dirty="0">
                <a:solidFill>
                  <a:srgbClr val="512888"/>
                </a:solidFill>
                <a:latin typeface="JetBrains Mono" pitchFamily="49" charset="0"/>
                <a:ea typeface="JetBrains Mono" pitchFamily="49" charset="-122"/>
                <a:cs typeface="JetBrains Mono" pitchFamily="49" charset="-120"/>
              </a:rPr>
              <a:t>models.json</a:t>
            </a:r>
            <a:endParaRPr lang="en-US" sz="1300" dirty="0"/>
          </a:p>
        </p:txBody>
      </p:sp>
      <p:sp>
        <p:nvSpPr>
          <p:cNvPr id="12" name="Text 9"/>
          <p:cNvSpPr/>
          <p:nvPr/>
        </p:nvSpPr>
        <p:spPr>
          <a:xfrm>
            <a:off x="3708400" y="4345941"/>
            <a:ext cx="1592580" cy="358140"/>
          </a:xfrm>
          <a:prstGeom prst="roundRect">
            <a:avLst>
              <a:gd name="adj" fmla="val 17730"/>
            </a:avLst>
          </a:prstGeom>
          <a:solidFill>
            <a:srgbClr val="F4F0F9"/>
          </a:solidFill>
          <a:ln/>
        </p:spPr>
        <p:txBody>
          <a:bodyPr wrap="none" lIns="0" tIns="0" rIns="0" bIns="0" rtlCol="0" anchor="ctr">
            <a:normAutofit/>
          </a:bodyPr>
          <a:lstStyle/>
          <a:p>
            <a:pPr marL="0" indent="0" algn="ctr">
              <a:lnSpc>
                <a:spcPts val="1820"/>
              </a:lnSpc>
              <a:buNone/>
            </a:pPr>
            <a:r>
              <a:rPr lang="en-US" sz="1300" dirty="0">
                <a:solidFill>
                  <a:srgbClr val="512888"/>
                </a:solidFill>
                <a:latin typeface="JetBrains Mono" pitchFamily="49" charset="0"/>
                <a:ea typeface="JetBrains Mono" pitchFamily="49" charset="-122"/>
                <a:cs typeface="JetBrains Mono" pitchFamily="49" charset="-120"/>
              </a:rPr>
              <a:t>settings.json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Adding a Provider to Pi</a:t>
            </a:r>
            <a:endParaRPr lang="en-US" sz="3800" dirty="0"/>
          </a:p>
        </p:txBody>
      </p:sp>
      <p:sp>
        <p:nvSpPr>
          <p:cNvPr id="4" name="Shape 1"/>
          <p:cNvSpPr/>
          <p:nvPr/>
        </p:nvSpPr>
        <p:spPr>
          <a:xfrm>
            <a:off x="914400" y="1724661"/>
            <a:ext cx="3318907" cy="2292350"/>
          </a:xfrm>
          <a:prstGeom prst="roundRect">
            <a:avLst>
              <a:gd name="adj" fmla="val 4432"/>
            </a:avLst>
          </a:prstGeom>
          <a:solidFill>
            <a:srgbClr val="F4F0F9"/>
          </a:solidFill>
          <a:ln/>
        </p:spPr>
        <p:txBody>
          <a:bodyPr/>
          <a:lstStyle/>
          <a:p>
            <a:endParaRPr lang="en-US"/>
          </a:p>
        </p:txBody>
      </p:sp>
      <p:sp>
        <p:nvSpPr>
          <p:cNvPr id="5" name="Shape 2"/>
          <p:cNvSpPr/>
          <p:nvPr/>
        </p:nvSpPr>
        <p:spPr>
          <a:xfrm>
            <a:off x="914400" y="1724661"/>
            <a:ext cx="3318907" cy="2292350"/>
          </a:xfrm>
          <a:custGeom>
            <a:avLst/>
            <a:gdLst/>
            <a:ahLst/>
            <a:cxnLst/>
            <a:rect l="l" t="t" r="r" b="b"/>
            <a:pathLst>
              <a:path w="3318907" h="229235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6" name="Text 3"/>
          <p:cNvSpPr/>
          <p:nvPr/>
        </p:nvSpPr>
        <p:spPr>
          <a:xfrm>
            <a:off x="1168400" y="201422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Subscriptions</a:t>
            </a:r>
            <a:endParaRPr lang="en-US" sz="2000" dirty="0"/>
          </a:p>
        </p:txBody>
      </p:sp>
      <p:sp>
        <p:nvSpPr>
          <p:cNvPr id="7" name="Text 4"/>
          <p:cNvSpPr/>
          <p:nvPr/>
        </p:nvSpPr>
        <p:spPr>
          <a:xfrm>
            <a:off x="1168400" y="2446020"/>
            <a:ext cx="2895234"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B5566"/>
                </a:solidFill>
                <a:latin typeface="Lato" pitchFamily="34" charset="0"/>
                <a:ea typeface="Lato" pitchFamily="34" charset="-122"/>
                <a:cs typeface="Lato" pitchFamily="34" charset="-120"/>
              </a:rPr>
              <a:t>Sign in with /login</a:t>
            </a:r>
            <a:endParaRPr lang="en-US" sz="1300" dirty="0"/>
          </a:p>
        </p:txBody>
      </p:sp>
      <p:sp>
        <p:nvSpPr>
          <p:cNvPr id="8" name="Text 5"/>
          <p:cNvSpPr/>
          <p:nvPr/>
        </p:nvSpPr>
        <p:spPr>
          <a:xfrm>
            <a:off x="1232408" y="2787650"/>
            <a:ext cx="2823606" cy="100076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ChatGPT Plus/Pro (Codex)</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Claude Pro/Max</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GitHub Copilot</a:t>
            </a:r>
            <a:endParaRPr lang="en-US" sz="1600" dirty="0"/>
          </a:p>
        </p:txBody>
      </p:sp>
      <p:sp>
        <p:nvSpPr>
          <p:cNvPr id="9" name="Shape 6"/>
          <p:cNvSpPr/>
          <p:nvPr/>
        </p:nvSpPr>
        <p:spPr>
          <a:xfrm>
            <a:off x="4436507" y="1724661"/>
            <a:ext cx="3318986" cy="2292350"/>
          </a:xfrm>
          <a:prstGeom prst="roundRect">
            <a:avLst>
              <a:gd name="adj" fmla="val 4432"/>
            </a:avLst>
          </a:prstGeom>
          <a:solidFill>
            <a:srgbClr val="F4F0F9"/>
          </a:solidFill>
          <a:ln/>
        </p:spPr>
        <p:txBody>
          <a:bodyPr/>
          <a:lstStyle/>
          <a:p>
            <a:endParaRPr lang="en-US"/>
          </a:p>
        </p:txBody>
      </p:sp>
      <p:sp>
        <p:nvSpPr>
          <p:cNvPr id="10" name="Shape 7"/>
          <p:cNvSpPr/>
          <p:nvPr/>
        </p:nvSpPr>
        <p:spPr>
          <a:xfrm>
            <a:off x="4436507" y="1724661"/>
            <a:ext cx="3318986" cy="2292350"/>
          </a:xfrm>
          <a:custGeom>
            <a:avLst/>
            <a:gdLst/>
            <a:ahLst/>
            <a:cxnLst/>
            <a:rect l="l" t="t" r="r" b="b"/>
            <a:pathLst>
              <a:path w="3318986" h="2292350">
                <a:moveTo>
                  <a:pt x="0" y="101600"/>
                </a:moveTo>
                <a:lnTo>
                  <a:pt x="0" y="101600"/>
                </a:lnTo>
                <a:arcTo wR="101600" hR="101600" stAng="10800000" swAng="5400000"/>
                <a:lnTo>
                  <a:pt x="3217386" y="0"/>
                </a:lnTo>
                <a:arcTo wR="101600" hR="101600" stAng="16200000" swAng="5400000"/>
                <a:lnTo>
                  <a:pt x="3318986"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90507" y="2014220"/>
            <a:ext cx="289531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API key</a:t>
            </a:r>
            <a:endParaRPr lang="en-US" sz="2000" dirty="0"/>
          </a:p>
        </p:txBody>
      </p:sp>
      <p:sp>
        <p:nvSpPr>
          <p:cNvPr id="12" name="Text 9"/>
          <p:cNvSpPr/>
          <p:nvPr/>
        </p:nvSpPr>
        <p:spPr>
          <a:xfrm>
            <a:off x="4690507" y="2446020"/>
            <a:ext cx="289531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B5566"/>
                </a:solidFill>
                <a:latin typeface="Lato" pitchFamily="34" charset="0"/>
                <a:ea typeface="Lato" pitchFamily="34" charset="-122"/>
                <a:cs typeface="Lato" pitchFamily="34" charset="-120"/>
              </a:rPr>
              <a:t>/login or an environment variable</a:t>
            </a:r>
            <a:endParaRPr lang="en-US" sz="1300" dirty="0"/>
          </a:p>
        </p:txBody>
      </p:sp>
      <p:sp>
        <p:nvSpPr>
          <p:cNvPr id="13" name="Text 10"/>
          <p:cNvSpPr/>
          <p:nvPr/>
        </p:nvSpPr>
        <p:spPr>
          <a:xfrm>
            <a:off x="4754515" y="2787650"/>
            <a:ext cx="2823688" cy="100076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Anthropic</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OpenAI</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Google Gemini</a:t>
            </a:r>
            <a:endParaRPr lang="en-US" sz="1600" dirty="0"/>
          </a:p>
        </p:txBody>
      </p:sp>
      <p:sp>
        <p:nvSpPr>
          <p:cNvPr id="14" name="Shape 11"/>
          <p:cNvSpPr/>
          <p:nvPr/>
        </p:nvSpPr>
        <p:spPr>
          <a:xfrm>
            <a:off x="7958693" y="1724661"/>
            <a:ext cx="3318907" cy="2292350"/>
          </a:xfrm>
          <a:prstGeom prst="roundRect">
            <a:avLst>
              <a:gd name="adj" fmla="val 4432"/>
            </a:avLst>
          </a:prstGeom>
          <a:solidFill>
            <a:srgbClr val="F4F0F9"/>
          </a:solidFill>
          <a:ln/>
        </p:spPr>
        <p:txBody>
          <a:bodyPr/>
          <a:lstStyle/>
          <a:p>
            <a:endParaRPr lang="en-US"/>
          </a:p>
        </p:txBody>
      </p:sp>
      <p:sp>
        <p:nvSpPr>
          <p:cNvPr id="15" name="Shape 12"/>
          <p:cNvSpPr/>
          <p:nvPr/>
        </p:nvSpPr>
        <p:spPr>
          <a:xfrm>
            <a:off x="7958693" y="1724661"/>
            <a:ext cx="3318907" cy="2292350"/>
          </a:xfrm>
          <a:custGeom>
            <a:avLst/>
            <a:gdLst/>
            <a:ahLst/>
            <a:cxnLst/>
            <a:rect l="l" t="t" r="r" b="b"/>
            <a:pathLst>
              <a:path w="3318907" h="229235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6" name="Text 13"/>
          <p:cNvSpPr/>
          <p:nvPr/>
        </p:nvSpPr>
        <p:spPr>
          <a:xfrm>
            <a:off x="8212693" y="2014220"/>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Custom</a:t>
            </a:r>
            <a:endParaRPr lang="en-US" sz="2000" dirty="0"/>
          </a:p>
        </p:txBody>
      </p:sp>
      <p:sp>
        <p:nvSpPr>
          <p:cNvPr id="17" name="Text 14"/>
          <p:cNvSpPr/>
          <p:nvPr/>
        </p:nvSpPr>
        <p:spPr>
          <a:xfrm>
            <a:off x="8212693" y="2446020"/>
            <a:ext cx="2895234"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5B5566"/>
                </a:solidFill>
                <a:latin typeface="Lato" pitchFamily="34" charset="0"/>
                <a:ea typeface="Lato" pitchFamily="34" charset="-122"/>
                <a:cs typeface="Lato" pitchFamily="34" charset="-120"/>
              </a:rPr>
              <a:t>Defined in models.json</a:t>
            </a:r>
            <a:endParaRPr lang="en-US" sz="1300" dirty="0"/>
          </a:p>
        </p:txBody>
      </p:sp>
      <p:sp>
        <p:nvSpPr>
          <p:cNvPr id="18" name="Text 15"/>
          <p:cNvSpPr/>
          <p:nvPr/>
        </p:nvSpPr>
        <p:spPr>
          <a:xfrm>
            <a:off x="8276701" y="2787650"/>
            <a:ext cx="2823606" cy="100076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Ollama</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LM Studio</a:t>
            </a:r>
            <a:endParaRPr lang="en-US" sz="1600" dirty="0"/>
          </a:p>
          <a:p>
            <a:pPr marL="189992" indent="-189992" algn="l">
              <a:lnSpc>
                <a:spcPts val="2560"/>
              </a:lnSpc>
              <a:buSzPct val="100000"/>
              <a:buChar char="•"/>
            </a:pPr>
            <a:r>
              <a:rPr lang="en-US" sz="1600" dirty="0">
                <a:solidFill>
                  <a:srgbClr val="1F1A24"/>
                </a:solidFill>
                <a:latin typeface="Lato" pitchFamily="34" charset="0"/>
                <a:ea typeface="Lato" pitchFamily="34" charset="-122"/>
                <a:cs typeface="Lato" pitchFamily="34" charset="-120"/>
              </a:rPr>
              <a:t>vLLM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Using Library GPT as a Provider</a:t>
            </a:r>
            <a:endParaRPr lang="en-US" sz="3800" dirty="0"/>
          </a:p>
        </p:txBody>
      </p:sp>
      <p:sp>
        <p:nvSpPr>
          <p:cNvPr id="4" name="Text 1"/>
          <p:cNvSpPr/>
          <p:nvPr/>
        </p:nvSpPr>
        <p:spPr>
          <a:xfrm>
            <a:off x="914400" y="1673861"/>
            <a:ext cx="4709160" cy="84836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Open </a:t>
            </a:r>
            <a:r>
              <a:rPr lang="en-US" sz="1600" b="1" dirty="0">
                <a:solidFill>
                  <a:srgbClr val="1F1A24"/>
                </a:solidFill>
                <a:latin typeface="Lato" pitchFamily="34" charset="0"/>
                <a:ea typeface="Lato" pitchFamily="34" charset="-122"/>
                <a:cs typeface="Lato" pitchFamily="34" charset="-120"/>
              </a:rPr>
              <a:t>models.json</a:t>
            </a:r>
            <a:r>
              <a:rPr lang="en-US" sz="1600" dirty="0">
                <a:solidFill>
                  <a:srgbClr val="1F1A24"/>
                </a:solidFill>
                <a:latin typeface="Lato" pitchFamily="34" charset="0"/>
                <a:ea typeface="Lato" pitchFamily="34" charset="-122"/>
                <a:cs typeface="Lato" pitchFamily="34" charset="-120"/>
              </a:rPr>
              <a:t> in</a:t>
            </a:r>
            <a:endParaRPr lang="en-US" sz="1600" dirty="0"/>
          </a:p>
          <a:p>
            <a:pPr marL="0" indent="0" algn="l">
              <a:lnSpc>
                <a:spcPts val="2160"/>
              </a:lnSpc>
              <a:buNone/>
            </a:pPr>
            <a:r>
              <a:rPr lang="en-US" sz="1600" dirty="0">
                <a:solidFill>
                  <a:srgbClr val="1F1A24"/>
                </a:solidFill>
                <a:latin typeface="Lato" pitchFamily="34" charset="0"/>
                <a:ea typeface="Lato" pitchFamily="34" charset="-122"/>
                <a:cs typeface="Lato" pitchFamily="34" charset="-120"/>
              </a:rPr>
              <a:t>C:\Users\username\.pi\agent</a:t>
            </a:r>
            <a:endParaRPr lang="en-US" sz="1600" dirty="0"/>
          </a:p>
          <a:p>
            <a:pPr marL="0" indent="0" algn="l">
              <a:lnSpc>
                <a:spcPts val="2160"/>
              </a:lnSpc>
              <a:buNone/>
            </a:pPr>
            <a:r>
              <a:rPr lang="en-US" sz="1600" dirty="0">
                <a:solidFill>
                  <a:srgbClr val="5B5566"/>
                </a:solidFill>
                <a:latin typeface="Lato" pitchFamily="34" charset="0"/>
                <a:ea typeface="Lato" pitchFamily="34" charset="-122"/>
                <a:cs typeface="Lato" pitchFamily="34" charset="-120"/>
              </a:rPr>
              <a:t>(create it if Pi didn't)</a:t>
            </a:r>
            <a:endParaRPr lang="en-US" sz="1600" dirty="0"/>
          </a:p>
        </p:txBody>
      </p:sp>
      <p:sp>
        <p:nvSpPr>
          <p:cNvPr id="5" name="Text 2"/>
          <p:cNvSpPr/>
          <p:nvPr/>
        </p:nvSpPr>
        <p:spPr>
          <a:xfrm>
            <a:off x="914400" y="2674621"/>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Paste in the JSON on the right</a:t>
            </a:r>
            <a:endParaRPr lang="en-US" sz="1600" dirty="0"/>
          </a:p>
        </p:txBody>
      </p:sp>
      <p:sp>
        <p:nvSpPr>
          <p:cNvPr id="6" name="Text 3"/>
          <p:cNvSpPr/>
          <p:nvPr/>
        </p:nvSpPr>
        <p:spPr>
          <a:xfrm>
            <a:off x="914400" y="3126739"/>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Go to </a:t>
            </a:r>
            <a:r>
              <a:rPr lang="en-US" sz="1600" u="sng" dirty="0">
                <a:solidFill>
                  <a:srgbClr val="1F1A24"/>
                </a:solidFill>
                <a:latin typeface="Lato" pitchFamily="34" charset="0"/>
                <a:ea typeface="Lato" pitchFamily="34" charset="-122"/>
                <a:cs typeface="Lato" pitchFamily="34" charset="-120"/>
                <a:hlinkClick r:id="rId4">
                  <a:extLst>
                    <a:ext uri="{A12FA001-AC4F-418D-AE19-62706E023703}">
                      <ahyp:hlinkClr xmlns:ahyp="http://schemas.microsoft.com/office/drawing/2018/hyperlinkcolor" val="tx"/>
                    </a:ext>
                  </a:extLst>
                </a:hlinkClick>
              </a:rPr>
              <a:t>gpt.lib.k-state.edu</a:t>
            </a:r>
            <a:endParaRPr lang="en-US" sz="1600" dirty="0"/>
          </a:p>
        </p:txBody>
      </p:sp>
      <p:sp>
        <p:nvSpPr>
          <p:cNvPr id="7" name="Text 4"/>
          <p:cNvSpPr/>
          <p:nvPr/>
        </p:nvSpPr>
        <p:spPr>
          <a:xfrm>
            <a:off x="914400" y="3578861"/>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4.</a:t>
            </a:r>
            <a:r>
              <a:rPr lang="en-US" sz="1600" dirty="0">
                <a:solidFill>
                  <a:srgbClr val="1F1A24"/>
                </a:solidFill>
                <a:latin typeface="Lato" pitchFamily="34" charset="0"/>
                <a:ea typeface="Lato" pitchFamily="34" charset="-122"/>
                <a:cs typeface="Lato" pitchFamily="34" charset="-120"/>
              </a:rPr>
              <a:t> Settings › Profile › Account › API keys › Show</a:t>
            </a:r>
            <a:endParaRPr lang="en-US" sz="1600" dirty="0"/>
          </a:p>
        </p:txBody>
      </p:sp>
      <p:sp>
        <p:nvSpPr>
          <p:cNvPr id="8" name="Text 5"/>
          <p:cNvSpPr/>
          <p:nvPr/>
        </p:nvSpPr>
        <p:spPr>
          <a:xfrm>
            <a:off x="914400" y="4030982"/>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5.</a:t>
            </a:r>
            <a:r>
              <a:rPr lang="en-US" sz="1600" dirty="0">
                <a:solidFill>
                  <a:srgbClr val="1F1A24"/>
                </a:solidFill>
                <a:latin typeface="Lato" pitchFamily="34" charset="0"/>
                <a:ea typeface="Lato" pitchFamily="34" charset="-122"/>
                <a:cs typeface="Lato" pitchFamily="34" charset="-120"/>
              </a:rPr>
              <a:t> Copy your key into </a:t>
            </a:r>
            <a:r>
              <a:rPr lang="en-US" sz="1600" b="1" dirty="0">
                <a:solidFill>
                  <a:srgbClr val="1F1A24"/>
                </a:solidFill>
                <a:latin typeface="Lato" pitchFamily="34" charset="0"/>
                <a:ea typeface="Lato" pitchFamily="34" charset="-122"/>
                <a:cs typeface="Lato" pitchFamily="34" charset="-120"/>
              </a:rPr>
              <a:t>"apiKey"</a:t>
            </a:r>
            <a:endParaRPr lang="en-US" sz="1600" dirty="0"/>
          </a:p>
        </p:txBody>
      </p:sp>
      <p:sp>
        <p:nvSpPr>
          <p:cNvPr id="9" name="Text 6"/>
          <p:cNvSpPr/>
          <p:nvPr/>
        </p:nvSpPr>
        <p:spPr>
          <a:xfrm>
            <a:off x="5816600" y="1714500"/>
            <a:ext cx="5461000" cy="3647440"/>
          </a:xfrm>
          <a:prstGeom prst="roundRect">
            <a:avLst>
              <a:gd name="adj" fmla="val 2089"/>
            </a:avLst>
          </a:prstGeom>
          <a:solidFill>
            <a:srgbClr val="2A2133"/>
          </a:solidFill>
          <a:ln/>
        </p:spPr>
        <p:txBody>
          <a:bodyPr wrap="square" lIns="231682" tIns="155482" rIns="83092" bIns="130082" rtlCol="0" anchor="t">
            <a:normAutofit/>
          </a:bodyPr>
          <a:lstStyle/>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"providers":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"librarygpt":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"api": "openai-completions",</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r>
              <a:rPr lang="en-US" sz="1200" dirty="0">
                <a:solidFill>
                  <a:srgbClr val="F5C26B"/>
                </a:solidFill>
                <a:latin typeface="JetBrains Mono" pitchFamily="49" charset="0"/>
                <a:ea typeface="JetBrains Mono" pitchFamily="49" charset="-122"/>
                <a:cs typeface="JetBrains Mono" pitchFamily="49" charset="-120"/>
              </a:rPr>
              <a:t>"apiKey": "YourAPIKeyWithTheQuotationMarks",</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"baseUrl": "https://gpt.lib.k-state.edu/api",</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"models":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"_launch": true,</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"contextWindow": 393216,</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"id": "qwen3.8:27b-q8_0",</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"input": ["text", "image"],</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"reasoning": true</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  }</a:t>
            </a:r>
            <a:endParaRPr lang="en-US" sz="1200" dirty="0"/>
          </a:p>
          <a:p>
            <a:pPr marL="0" indent="0" algn="l">
              <a:lnSpc>
                <a:spcPts val="144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Connecting Providers: OAuth vs API Key</a:t>
            </a:r>
            <a:endParaRPr lang="en-US" sz="3800" dirty="0"/>
          </a:p>
        </p:txBody>
      </p:sp>
      <p:sp>
        <p:nvSpPr>
          <p:cNvPr id="4" name="Shape 1"/>
          <p:cNvSpPr/>
          <p:nvPr/>
        </p:nvSpPr>
        <p:spPr>
          <a:xfrm>
            <a:off x="914400" y="1673861"/>
            <a:ext cx="5080000" cy="2842260"/>
          </a:xfrm>
          <a:prstGeom prst="roundRect">
            <a:avLst>
              <a:gd name="adj" fmla="val 3575"/>
            </a:avLst>
          </a:prstGeom>
          <a:solidFill>
            <a:srgbClr val="F4F0F9"/>
          </a:solidFill>
          <a:ln/>
        </p:spPr>
        <p:txBody>
          <a:bodyPr/>
          <a:lstStyle/>
          <a:p>
            <a:endParaRPr lang="en-US"/>
          </a:p>
        </p:txBody>
      </p:sp>
      <p:sp>
        <p:nvSpPr>
          <p:cNvPr id="5" name="Shape 2"/>
          <p:cNvSpPr/>
          <p:nvPr/>
        </p:nvSpPr>
        <p:spPr>
          <a:xfrm>
            <a:off x="914400" y="1673861"/>
            <a:ext cx="5080000" cy="2842260"/>
          </a:xfrm>
          <a:custGeom>
            <a:avLst/>
            <a:gdLst/>
            <a:ahLst/>
            <a:cxnLst/>
            <a:rect l="l" t="t" r="r" b="b"/>
            <a:pathLst>
              <a:path w="5080000" h="2842260">
                <a:moveTo>
                  <a:pt x="0" y="101600"/>
                </a:moveTo>
                <a:lnTo>
                  <a:pt x="0" y="101600"/>
                </a:lnTo>
                <a:arcTo wR="101600" hR="101600" stAng="10800000" swAng="5400000"/>
                <a:lnTo>
                  <a:pt x="4978400" y="0"/>
                </a:lnTo>
                <a:arcTo wR="101600" hR="101600" stAng="16200000" swAng="5400000"/>
                <a:lnTo>
                  <a:pt x="5080000"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6" name="Text 3"/>
          <p:cNvSpPr/>
          <p:nvPr/>
        </p:nvSpPr>
        <p:spPr>
          <a:xfrm>
            <a:off x="1168400" y="1963421"/>
            <a:ext cx="47091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OAuth (subscription login)</a:t>
            </a:r>
            <a:endParaRPr lang="en-US" sz="2000" dirty="0"/>
          </a:p>
        </p:txBody>
      </p:sp>
      <p:sp>
        <p:nvSpPr>
          <p:cNvPr id="7" name="Text 4"/>
          <p:cNvSpPr/>
          <p:nvPr/>
        </p:nvSpPr>
        <p:spPr>
          <a:xfrm>
            <a:off x="1239520" y="2395221"/>
            <a:ext cx="4630420" cy="18923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Uses a plan you already pay for: ChatGPT Plus/Pro, GitHub Copilot</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Inside Pi, run /login, pick a provider, sign in with the browser</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Token saved to auth.json and refreshed automatically</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Flat monthly cost, subject to plan usage limits</a:t>
            </a:r>
            <a:endParaRPr lang="en-US" sz="1500" dirty="0"/>
          </a:p>
        </p:txBody>
      </p:sp>
      <p:sp>
        <p:nvSpPr>
          <p:cNvPr id="8" name="Shape 5"/>
          <p:cNvSpPr/>
          <p:nvPr/>
        </p:nvSpPr>
        <p:spPr>
          <a:xfrm>
            <a:off x="6197600" y="1673861"/>
            <a:ext cx="5080000" cy="2842260"/>
          </a:xfrm>
          <a:prstGeom prst="roundRect">
            <a:avLst>
              <a:gd name="adj" fmla="val 3575"/>
            </a:avLst>
          </a:prstGeom>
          <a:solidFill>
            <a:srgbClr val="F4F0F9"/>
          </a:solidFill>
          <a:ln/>
        </p:spPr>
        <p:txBody>
          <a:bodyPr/>
          <a:lstStyle/>
          <a:p>
            <a:endParaRPr lang="en-US"/>
          </a:p>
        </p:txBody>
      </p:sp>
      <p:sp>
        <p:nvSpPr>
          <p:cNvPr id="9" name="Shape 6"/>
          <p:cNvSpPr/>
          <p:nvPr/>
        </p:nvSpPr>
        <p:spPr>
          <a:xfrm>
            <a:off x="6197600" y="1673861"/>
            <a:ext cx="5080000" cy="2842260"/>
          </a:xfrm>
          <a:custGeom>
            <a:avLst/>
            <a:gdLst/>
            <a:ahLst/>
            <a:cxnLst/>
            <a:rect l="l" t="t" r="r" b="b"/>
            <a:pathLst>
              <a:path w="5080000" h="2842260">
                <a:moveTo>
                  <a:pt x="0" y="101600"/>
                </a:moveTo>
                <a:lnTo>
                  <a:pt x="0" y="101600"/>
                </a:lnTo>
                <a:arcTo wR="101600" hR="101600" stAng="10800000" swAng="5400000"/>
                <a:lnTo>
                  <a:pt x="4978400" y="0"/>
                </a:lnTo>
                <a:arcTo wR="101600" hR="101600" stAng="16200000" swAng="5400000"/>
                <a:lnTo>
                  <a:pt x="5080000"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0" name="Text 7"/>
          <p:cNvSpPr/>
          <p:nvPr/>
        </p:nvSpPr>
        <p:spPr>
          <a:xfrm>
            <a:off x="6451600" y="1963421"/>
            <a:ext cx="470916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API key (pay as you go)</a:t>
            </a:r>
            <a:endParaRPr lang="en-US" sz="2000" dirty="0"/>
          </a:p>
        </p:txBody>
      </p:sp>
      <p:sp>
        <p:nvSpPr>
          <p:cNvPr id="11" name="Text 8"/>
          <p:cNvSpPr/>
          <p:nvPr/>
        </p:nvSpPr>
        <p:spPr>
          <a:xfrm>
            <a:off x="6522720" y="2395221"/>
            <a:ext cx="4630420"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Create a key in the provider console: Anthropic, OpenAI, Google Gemini</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Set an environment variable, or pass --api-key &lt;key&gt; at launch</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Billed per token, best for automation and scripts</a:t>
            </a:r>
            <a:endParaRPr lang="en-US" sz="1500" dirty="0"/>
          </a:p>
        </p:txBody>
      </p:sp>
      <p:sp>
        <p:nvSpPr>
          <p:cNvPr id="12" name="Text 9"/>
          <p:cNvSpPr/>
          <p:nvPr/>
        </p:nvSpPr>
        <p:spPr>
          <a:xfrm>
            <a:off x="6451600" y="3855721"/>
            <a:ext cx="4572000" cy="400050"/>
          </a:xfrm>
          <a:prstGeom prst="roundRect">
            <a:avLst>
              <a:gd name="adj" fmla="val 15873"/>
            </a:avLst>
          </a:prstGeom>
          <a:solidFill>
            <a:srgbClr val="2A2133"/>
          </a:solidFill>
          <a:ln/>
        </p:spPr>
        <p:txBody>
          <a:bodyPr wrap="square" lIns="133801" tIns="57601" rIns="5785" bIns="322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$env:ANTHROPIC_API_KEY = "sk-..."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Local Ollama LLM with Pi</a:t>
            </a:r>
            <a:endParaRPr lang="en-US" sz="3800" dirty="0"/>
          </a:p>
        </p:txBody>
      </p:sp>
      <p:sp>
        <p:nvSpPr>
          <p:cNvPr id="4" name="Text 1"/>
          <p:cNvSpPr/>
          <p:nvPr/>
        </p:nvSpPr>
        <p:spPr>
          <a:xfrm>
            <a:off x="914400" y="157226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Download Ollama for Windows, or install it with PowerShell:</a:t>
            </a:r>
            <a:endParaRPr lang="en-US" sz="1600" dirty="0"/>
          </a:p>
        </p:txBody>
      </p:sp>
      <p:sp>
        <p:nvSpPr>
          <p:cNvPr id="5" name="Text 2"/>
          <p:cNvSpPr/>
          <p:nvPr/>
        </p:nvSpPr>
        <p:spPr>
          <a:xfrm>
            <a:off x="914400" y="1998982"/>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irm https://ollama.com/install.ps1 | iex</a:t>
            </a:r>
            <a:endParaRPr lang="en-US" sz="1300" dirty="0"/>
          </a:p>
        </p:txBody>
      </p:sp>
      <p:sp>
        <p:nvSpPr>
          <p:cNvPr id="6" name="Text 3"/>
          <p:cNvSpPr/>
          <p:nvPr/>
        </p:nvSpPr>
        <p:spPr>
          <a:xfrm>
            <a:off x="914400" y="2576832"/>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Once Ollama is installed, install a model:</a:t>
            </a:r>
            <a:endParaRPr lang="en-US" sz="1600" dirty="0"/>
          </a:p>
        </p:txBody>
      </p:sp>
      <p:sp>
        <p:nvSpPr>
          <p:cNvPr id="7" name="Text 4"/>
          <p:cNvSpPr/>
          <p:nvPr/>
        </p:nvSpPr>
        <p:spPr>
          <a:xfrm>
            <a:off x="914400" y="300355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ollama pull gemma4:e2b-it-qat</a:t>
            </a:r>
            <a:endParaRPr lang="en-US" sz="1300" dirty="0"/>
          </a:p>
        </p:txBody>
      </p:sp>
      <p:sp>
        <p:nvSpPr>
          <p:cNvPr id="8" name="Text 5"/>
          <p:cNvSpPr/>
          <p:nvPr/>
        </p:nvSpPr>
        <p:spPr>
          <a:xfrm>
            <a:off x="914400" y="358140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With the model installed, launch Pi on it:</a:t>
            </a:r>
            <a:endParaRPr lang="en-US" sz="1600" dirty="0"/>
          </a:p>
        </p:txBody>
      </p:sp>
      <p:sp>
        <p:nvSpPr>
          <p:cNvPr id="9" name="Text 6"/>
          <p:cNvSpPr/>
          <p:nvPr/>
        </p:nvSpPr>
        <p:spPr>
          <a:xfrm>
            <a:off x="914400" y="4008121"/>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ollama launch pi --model gemma4:e2b-it-qat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Local Ollama LLM with Pi cont.</a:t>
            </a:r>
            <a:endParaRPr lang="en-US" sz="3800" dirty="0"/>
          </a:p>
        </p:txBody>
      </p:sp>
      <p:pic>
        <p:nvPicPr>
          <p:cNvPr id="4" name="Image 1" descr="models.json defining an Ollama provider: OpenAI-compatible API at 127.0.0.1:11434/v1, model gemma4:e2b-it-qat, 131,072-token context window, text and image input, launch and reasoning enabled"/>
          <p:cNvPicPr>
            <a:picLocks noChangeAspect="1"/>
          </p:cNvPicPr>
          <p:nvPr/>
        </p:nvPicPr>
        <p:blipFill>
          <a:blip r:embed="rId4"/>
          <a:srcRect t="-10" b="-10"/>
          <a:stretch/>
        </p:blipFill>
        <p:spPr>
          <a:xfrm>
            <a:off x="914400" y="1757682"/>
            <a:ext cx="4064000" cy="4013200"/>
          </a:xfrm>
          <a:prstGeom prst="roundRect">
            <a:avLst>
              <a:gd name="adj" fmla="val 1899"/>
            </a:avLst>
          </a:prstGeom>
        </p:spPr>
      </p:pic>
      <p:sp>
        <p:nvSpPr>
          <p:cNvPr id="5" name="Text 1"/>
          <p:cNvSpPr/>
          <p:nvPr/>
        </p:nvSpPr>
        <p:spPr>
          <a:xfrm>
            <a:off x="5334000" y="3119121"/>
            <a:ext cx="6121908"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With Ollama set up, Pi's </a:t>
            </a:r>
            <a:r>
              <a:rPr lang="en-US" sz="1700" b="1" dirty="0">
                <a:solidFill>
                  <a:srgbClr val="1F1A24"/>
                </a:solidFill>
                <a:latin typeface="Lato" pitchFamily="34" charset="0"/>
                <a:ea typeface="Lato" pitchFamily="34" charset="-122"/>
                <a:cs typeface="Lato" pitchFamily="34" charset="-120"/>
              </a:rPr>
              <a:t>models.json</a:t>
            </a:r>
            <a:r>
              <a:rPr lang="en-US" sz="1700" dirty="0">
                <a:solidFill>
                  <a:srgbClr val="1F1A24"/>
                </a:solidFill>
                <a:latin typeface="Lato" pitchFamily="34" charset="0"/>
                <a:ea typeface="Lato" pitchFamily="34" charset="-122"/>
                <a:cs typeface="Lato" pitchFamily="34" charset="-120"/>
              </a:rPr>
              <a:t> gains an </a:t>
            </a:r>
            <a:r>
              <a:rPr lang="en-US" sz="1700" b="1" dirty="0">
                <a:solidFill>
                  <a:srgbClr val="1F1A24"/>
                </a:solidFill>
                <a:latin typeface="Lato" pitchFamily="34" charset="0"/>
                <a:ea typeface="Lato" pitchFamily="34" charset="-122"/>
                <a:cs typeface="Lato" pitchFamily="34" charset="-120"/>
              </a:rPr>
              <a:t>ollama</a:t>
            </a:r>
            <a:r>
              <a:rPr lang="en-US" sz="1700" dirty="0">
                <a:solidFill>
                  <a:srgbClr val="1F1A24"/>
                </a:solidFill>
                <a:latin typeface="Lato" pitchFamily="34" charset="0"/>
                <a:ea typeface="Lato" pitchFamily="34" charset="-122"/>
                <a:cs typeface="Lato" pitchFamily="34" charset="-120"/>
              </a:rPr>
              <a:t> provider like this one.</a:t>
            </a:r>
            <a:endParaRPr lang="en-US" sz="1700" dirty="0"/>
          </a:p>
        </p:txBody>
      </p:sp>
      <p:sp>
        <p:nvSpPr>
          <p:cNvPr id="6" name="Text 2"/>
          <p:cNvSpPr/>
          <p:nvPr/>
        </p:nvSpPr>
        <p:spPr>
          <a:xfrm>
            <a:off x="5334000" y="3876039"/>
            <a:ext cx="612190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5566"/>
                </a:solidFill>
                <a:latin typeface="Lato" pitchFamily="34" charset="0"/>
                <a:ea typeface="Lato" pitchFamily="34" charset="-122"/>
                <a:cs typeface="Lato" pitchFamily="34" charset="-120"/>
              </a:rPr>
              <a:t>It points at Ollama's local, OpenAI-compatible endpoint, so nothing leaves your machine.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Pi Extensions</a:t>
            </a:r>
            <a:endParaRPr lang="en-US" sz="3800" dirty="0"/>
          </a:p>
        </p:txBody>
      </p:sp>
      <p:sp>
        <p:nvSpPr>
          <p:cNvPr id="4" name="Text 1"/>
          <p:cNvSpPr/>
          <p:nvPr/>
        </p:nvSpPr>
        <p:spPr>
          <a:xfrm>
            <a:off x="914400" y="1559564"/>
            <a:ext cx="1067409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Extensions add new tools, commands, CLI flags, and even providers to Pi.</a:t>
            </a:r>
            <a:endParaRPr lang="en-US" sz="1700" dirty="0"/>
          </a:p>
        </p:txBody>
      </p:sp>
      <p:sp>
        <p:nvSpPr>
          <p:cNvPr id="5" name="Text 2"/>
          <p:cNvSpPr/>
          <p:nvPr/>
        </p:nvSpPr>
        <p:spPr>
          <a:xfrm>
            <a:off x="914400" y="200152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Install</a:t>
            </a:r>
            <a:r>
              <a:rPr lang="en-US" sz="1600" dirty="0">
                <a:solidFill>
                  <a:srgbClr val="1F1A24"/>
                </a:solidFill>
                <a:latin typeface="Lato" pitchFamily="34" charset="0"/>
                <a:ea typeface="Lato" pitchFamily="34" charset="-122"/>
                <a:cs typeface="Lato" pitchFamily="34" charset="-120"/>
              </a:rPr>
              <a:t> from npm, git, or a local path (add </a:t>
            </a:r>
            <a:r>
              <a:rPr lang="en-US" sz="1600" b="1" dirty="0">
                <a:solidFill>
                  <a:srgbClr val="1F1A24"/>
                </a:solidFill>
                <a:latin typeface="Lato" pitchFamily="34" charset="0"/>
                <a:ea typeface="Lato" pitchFamily="34" charset="-122"/>
                <a:cs typeface="Lato" pitchFamily="34" charset="-120"/>
              </a:rPr>
              <a:t>-l</a:t>
            </a:r>
            <a:r>
              <a:rPr lang="en-US" sz="1600" dirty="0">
                <a:solidFill>
                  <a:srgbClr val="1F1A24"/>
                </a:solidFill>
                <a:latin typeface="Lato" pitchFamily="34" charset="0"/>
                <a:ea typeface="Lato" pitchFamily="34" charset="-122"/>
                <a:cs typeface="Lato" pitchFamily="34" charset="-120"/>
              </a:rPr>
              <a:t> for the current project only):</a:t>
            </a:r>
            <a:endParaRPr lang="en-US" sz="1600" dirty="0"/>
          </a:p>
        </p:txBody>
      </p:sp>
      <p:sp>
        <p:nvSpPr>
          <p:cNvPr id="6" name="Text 3"/>
          <p:cNvSpPr/>
          <p:nvPr/>
        </p:nvSpPr>
        <p:spPr>
          <a:xfrm>
            <a:off x="914400" y="2415542"/>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 install npm:&lt;package&gt;</a:t>
            </a:r>
            <a:endParaRPr lang="en-US" sz="1300" dirty="0"/>
          </a:p>
        </p:txBody>
      </p:sp>
      <p:sp>
        <p:nvSpPr>
          <p:cNvPr id="7" name="Text 4"/>
          <p:cNvSpPr/>
          <p:nvPr/>
        </p:nvSpPr>
        <p:spPr>
          <a:xfrm>
            <a:off x="914400" y="2980692"/>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Manage</a:t>
            </a:r>
            <a:r>
              <a:rPr lang="en-US" sz="1600" dirty="0">
                <a:solidFill>
                  <a:srgbClr val="1F1A24"/>
                </a:solidFill>
                <a:latin typeface="Lato" pitchFamily="34" charset="0"/>
                <a:ea typeface="Lato" pitchFamily="34" charset="-122"/>
                <a:cs typeface="Lato" pitchFamily="34" charset="-120"/>
              </a:rPr>
              <a:t> what's installed (pi config enables or disables package resources):</a:t>
            </a:r>
            <a:endParaRPr lang="en-US" sz="1600" dirty="0"/>
          </a:p>
        </p:txBody>
      </p:sp>
      <p:sp>
        <p:nvSpPr>
          <p:cNvPr id="8" name="Text 5"/>
          <p:cNvSpPr/>
          <p:nvPr/>
        </p:nvSpPr>
        <p:spPr>
          <a:xfrm>
            <a:off x="914400" y="3394714"/>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 list · pi update · pi remove &lt;source&gt; · pi config</a:t>
            </a:r>
            <a:endParaRPr lang="en-US" sz="1300" dirty="0"/>
          </a:p>
        </p:txBody>
      </p:sp>
      <p:sp>
        <p:nvSpPr>
          <p:cNvPr id="9" name="Text 6"/>
          <p:cNvSpPr/>
          <p:nvPr/>
        </p:nvSpPr>
        <p:spPr>
          <a:xfrm>
            <a:off x="914400" y="3959864"/>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Try</a:t>
            </a:r>
            <a:r>
              <a:rPr lang="en-US" sz="1600" dirty="0">
                <a:solidFill>
                  <a:srgbClr val="1F1A24"/>
                </a:solidFill>
                <a:latin typeface="Lato" pitchFamily="34" charset="0"/>
                <a:ea typeface="Lato" pitchFamily="34" charset="-122"/>
                <a:cs typeface="Lato" pitchFamily="34" charset="-120"/>
              </a:rPr>
              <a:t> one without installing:</a:t>
            </a:r>
            <a:endParaRPr lang="en-US" sz="1600" dirty="0"/>
          </a:p>
        </p:txBody>
      </p:sp>
      <p:sp>
        <p:nvSpPr>
          <p:cNvPr id="10" name="Text 7"/>
          <p:cNvSpPr/>
          <p:nvPr/>
        </p:nvSpPr>
        <p:spPr>
          <a:xfrm>
            <a:off x="914400" y="4373879"/>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 -e ./my-extension.ts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MCP in Pi</a:t>
            </a:r>
            <a:endParaRPr lang="en-US" sz="3800" dirty="0"/>
          </a:p>
        </p:txBody>
      </p:sp>
      <p:sp>
        <p:nvSpPr>
          <p:cNvPr id="4" name="Text 1"/>
          <p:cNvSpPr/>
          <p:nvPr/>
        </p:nvSpPr>
        <p:spPr>
          <a:xfrm>
            <a:off x="914400" y="1673864"/>
            <a:ext cx="10674096"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The </a:t>
            </a:r>
            <a:r>
              <a:rPr lang="en-US" sz="1700" b="1" dirty="0">
                <a:solidFill>
                  <a:srgbClr val="1F1A24"/>
                </a:solidFill>
                <a:latin typeface="Lato" pitchFamily="34" charset="0"/>
                <a:ea typeface="Lato" pitchFamily="34" charset="-122"/>
                <a:cs typeface="Lato" pitchFamily="34" charset="-120"/>
              </a:rPr>
              <a:t>Model Context Protocol</a:t>
            </a:r>
            <a:r>
              <a:rPr lang="en-US" sz="1700" dirty="0">
                <a:solidFill>
                  <a:srgbClr val="1F1A24"/>
                </a:solidFill>
                <a:latin typeface="Lato" pitchFamily="34" charset="0"/>
                <a:ea typeface="Lato" pitchFamily="34" charset="-122"/>
                <a:cs typeface="Lato" pitchFamily="34" charset="-120"/>
              </a:rPr>
              <a:t> is an open standard for plugging outside tools and data (GitHub, files, databases, browsers) into an agent. Pi now supports it out of the box.</a:t>
            </a:r>
            <a:endParaRPr lang="en-US" sz="1700" dirty="0"/>
          </a:p>
        </p:txBody>
      </p:sp>
      <p:sp>
        <p:nvSpPr>
          <p:cNvPr id="5" name="Shape 2"/>
          <p:cNvSpPr/>
          <p:nvPr/>
        </p:nvSpPr>
        <p:spPr>
          <a:xfrm>
            <a:off x="914400" y="2532379"/>
            <a:ext cx="3335814" cy="1257300"/>
          </a:xfrm>
          <a:prstGeom prst="roundRect">
            <a:avLst>
              <a:gd name="adj" fmla="val 8081"/>
            </a:avLst>
          </a:prstGeom>
          <a:solidFill>
            <a:srgbClr val="F4F0F9"/>
          </a:solidFill>
          <a:ln/>
        </p:spPr>
        <p:txBody>
          <a:bodyPr/>
          <a:lstStyle/>
          <a:p>
            <a:endParaRPr lang="en-US"/>
          </a:p>
        </p:txBody>
      </p:sp>
      <p:sp>
        <p:nvSpPr>
          <p:cNvPr id="6" name="Shape 3"/>
          <p:cNvSpPr/>
          <p:nvPr/>
        </p:nvSpPr>
        <p:spPr>
          <a:xfrm>
            <a:off x="914400" y="2532379"/>
            <a:ext cx="3335814" cy="1257300"/>
          </a:xfrm>
          <a:custGeom>
            <a:avLst/>
            <a:gdLst/>
            <a:ahLst/>
            <a:cxnLst/>
            <a:rect l="l" t="t" r="r" b="b"/>
            <a:pathLst>
              <a:path w="3335814" h="1257300">
                <a:moveTo>
                  <a:pt x="0" y="101600"/>
                </a:moveTo>
                <a:lnTo>
                  <a:pt x="0" y="101600"/>
                </a:lnTo>
                <a:arcTo wR="101600" hR="101600" stAng="10800000" swAng="5400000"/>
                <a:lnTo>
                  <a:pt x="3234214" y="0"/>
                </a:lnTo>
                <a:arcTo wR="101600" hR="101600" stAng="16200000" swAng="5400000"/>
                <a:lnTo>
                  <a:pt x="3335814"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7" name="Text 4"/>
          <p:cNvSpPr/>
          <p:nvPr/>
        </p:nvSpPr>
        <p:spPr>
          <a:xfrm>
            <a:off x="1143000" y="2771142"/>
            <a:ext cx="296497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512888"/>
                </a:solidFill>
                <a:latin typeface="Lato" pitchFamily="34" charset="0"/>
                <a:ea typeface="Lato" pitchFamily="34" charset="-122"/>
                <a:cs typeface="Lato" pitchFamily="34" charset="-120"/>
              </a:rPr>
              <a:t>Built in</a:t>
            </a:r>
            <a:endParaRPr lang="en-US" sz="1700" dirty="0"/>
          </a:p>
        </p:txBody>
      </p:sp>
      <p:sp>
        <p:nvSpPr>
          <p:cNvPr id="8" name="Text 5"/>
          <p:cNvSpPr/>
          <p:nvPr/>
        </p:nvSpPr>
        <p:spPr>
          <a:xfrm>
            <a:off x="1143000" y="3106421"/>
            <a:ext cx="296497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A24"/>
                </a:solidFill>
                <a:latin typeface="Lato" pitchFamily="34" charset="0"/>
                <a:ea typeface="Lato" pitchFamily="34" charset="-122"/>
                <a:cs typeface="Lato" pitchFamily="34" charset="-120"/>
              </a:rPr>
              <a:t>No extension to install. Add a server and start Pi.</a:t>
            </a:r>
            <a:endParaRPr lang="en-US" sz="1400" dirty="0"/>
          </a:p>
        </p:txBody>
      </p:sp>
      <p:sp>
        <p:nvSpPr>
          <p:cNvPr id="9" name="Shape 6"/>
          <p:cNvSpPr/>
          <p:nvPr/>
        </p:nvSpPr>
        <p:spPr>
          <a:xfrm>
            <a:off x="4428014" y="2532379"/>
            <a:ext cx="3335893" cy="1257300"/>
          </a:xfrm>
          <a:prstGeom prst="roundRect">
            <a:avLst>
              <a:gd name="adj" fmla="val 8081"/>
            </a:avLst>
          </a:prstGeom>
          <a:solidFill>
            <a:srgbClr val="F4F0F9"/>
          </a:solidFill>
          <a:ln/>
        </p:spPr>
        <p:txBody>
          <a:bodyPr/>
          <a:lstStyle/>
          <a:p>
            <a:endParaRPr lang="en-US"/>
          </a:p>
        </p:txBody>
      </p:sp>
      <p:sp>
        <p:nvSpPr>
          <p:cNvPr id="10" name="Shape 7"/>
          <p:cNvSpPr/>
          <p:nvPr/>
        </p:nvSpPr>
        <p:spPr>
          <a:xfrm>
            <a:off x="4428014" y="2532379"/>
            <a:ext cx="3335893" cy="1257300"/>
          </a:xfrm>
          <a:custGeom>
            <a:avLst/>
            <a:gdLst/>
            <a:ahLst/>
            <a:cxnLst/>
            <a:rect l="l" t="t" r="r" b="b"/>
            <a:pathLst>
              <a:path w="3335893" h="1257300">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56614" y="2771142"/>
            <a:ext cx="296505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512888"/>
                </a:solidFill>
                <a:latin typeface="Lato" pitchFamily="34" charset="0"/>
                <a:ea typeface="Lato" pitchFamily="34" charset="-122"/>
                <a:cs typeface="Lato" pitchFamily="34" charset="-120"/>
              </a:rPr>
              <a:t>You or the project</a:t>
            </a:r>
            <a:endParaRPr lang="en-US" sz="1700" dirty="0"/>
          </a:p>
        </p:txBody>
      </p:sp>
      <p:sp>
        <p:nvSpPr>
          <p:cNvPr id="12" name="Text 9"/>
          <p:cNvSpPr/>
          <p:nvPr/>
        </p:nvSpPr>
        <p:spPr>
          <a:xfrm>
            <a:off x="4656614" y="3106421"/>
            <a:ext cx="2965054"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A24"/>
                </a:solidFill>
                <a:latin typeface="Lato" pitchFamily="34" charset="0"/>
                <a:ea typeface="Lato" pitchFamily="34" charset="-122"/>
                <a:cs typeface="Lato" pitchFamily="34" charset="-120"/>
              </a:rPr>
              <a:t>~/.pi/agent/mcp.json for you; .pi/mcp.json (add -l) for one project.</a:t>
            </a:r>
            <a:endParaRPr lang="en-US" sz="1400" dirty="0"/>
          </a:p>
        </p:txBody>
      </p:sp>
      <p:sp>
        <p:nvSpPr>
          <p:cNvPr id="13" name="Shape 10"/>
          <p:cNvSpPr/>
          <p:nvPr/>
        </p:nvSpPr>
        <p:spPr>
          <a:xfrm>
            <a:off x="7941707" y="2532379"/>
            <a:ext cx="3335893" cy="1257300"/>
          </a:xfrm>
          <a:prstGeom prst="roundRect">
            <a:avLst>
              <a:gd name="adj" fmla="val 8081"/>
            </a:avLst>
          </a:prstGeom>
          <a:solidFill>
            <a:srgbClr val="F4F0F9"/>
          </a:solidFill>
          <a:ln/>
        </p:spPr>
        <p:txBody>
          <a:bodyPr/>
          <a:lstStyle/>
          <a:p>
            <a:endParaRPr lang="en-US"/>
          </a:p>
        </p:txBody>
      </p:sp>
      <p:sp>
        <p:nvSpPr>
          <p:cNvPr id="14" name="Shape 11"/>
          <p:cNvSpPr/>
          <p:nvPr/>
        </p:nvSpPr>
        <p:spPr>
          <a:xfrm>
            <a:off x="7941707" y="2532379"/>
            <a:ext cx="3335893" cy="1257300"/>
          </a:xfrm>
          <a:custGeom>
            <a:avLst/>
            <a:gdLst/>
            <a:ahLst/>
            <a:cxnLst/>
            <a:rect l="l" t="t" r="r" b="b"/>
            <a:pathLst>
              <a:path w="3335893" h="1257300">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5" name="Text 12"/>
          <p:cNvSpPr/>
          <p:nvPr/>
        </p:nvSpPr>
        <p:spPr>
          <a:xfrm>
            <a:off x="8170307" y="2771142"/>
            <a:ext cx="2965054"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512888"/>
                </a:solidFill>
                <a:latin typeface="Lato" pitchFamily="34" charset="0"/>
                <a:ea typeface="Lato" pitchFamily="34" charset="-122"/>
                <a:cs typeface="Lato" pitchFamily="34" charset="-120"/>
              </a:rPr>
              <a:t>Loaded when needed</a:t>
            </a:r>
            <a:endParaRPr lang="en-US" sz="1700" dirty="0"/>
          </a:p>
        </p:txBody>
      </p:sp>
      <p:sp>
        <p:nvSpPr>
          <p:cNvPr id="16" name="Text 13"/>
          <p:cNvSpPr/>
          <p:nvPr/>
        </p:nvSpPr>
        <p:spPr>
          <a:xfrm>
            <a:off x="8170307" y="3106421"/>
            <a:ext cx="2965054"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F1A24"/>
                </a:solidFill>
                <a:latin typeface="Lato" pitchFamily="34" charset="0"/>
                <a:ea typeface="Lato" pitchFamily="34" charset="-122"/>
                <a:cs typeface="Lato" pitchFamily="34" charset="-120"/>
              </a:rPr>
              <a:t>Tools stay out of the prompt until the agent looks them up.</a:t>
            </a:r>
            <a:endParaRPr lang="en-US" sz="1400" dirty="0"/>
          </a:p>
        </p:txBody>
      </p:sp>
      <p:sp>
        <p:nvSpPr>
          <p:cNvPr id="17" name="Shape 14"/>
          <p:cNvSpPr/>
          <p:nvPr/>
        </p:nvSpPr>
        <p:spPr>
          <a:xfrm>
            <a:off x="914400" y="4043679"/>
            <a:ext cx="10363200" cy="1328420"/>
          </a:xfrm>
          <a:prstGeom prst="roundRect">
            <a:avLst>
              <a:gd name="adj" fmla="val 5736"/>
            </a:avLst>
          </a:prstGeom>
          <a:solidFill>
            <a:srgbClr val="2A2133"/>
          </a:solidFill>
          <a:ln/>
        </p:spPr>
        <p:txBody>
          <a:bodyPr/>
          <a:lstStyle/>
          <a:p>
            <a:endParaRPr lang="en-US"/>
          </a:p>
        </p:txBody>
      </p:sp>
      <p:sp>
        <p:nvSpPr>
          <p:cNvPr id="18" name="Text 15"/>
          <p:cNvSpPr/>
          <p:nvPr/>
        </p:nvSpPr>
        <p:spPr>
          <a:xfrm>
            <a:off x="1143000" y="4196079"/>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pi mcp add filesystem -- npx -y @modelcontextprotocol/server-filesystem . </a:t>
            </a:r>
            <a:r>
              <a:rPr lang="en-US" sz="1300" dirty="0">
                <a:solidFill>
                  <a:srgbClr val="A99BBB"/>
                </a:solidFill>
                <a:latin typeface="JetBrains Mono" pitchFamily="49" charset="0"/>
                <a:ea typeface="JetBrains Mono" pitchFamily="49" charset="-122"/>
                <a:cs typeface="JetBrains Mono" pitchFamily="49" charset="-120"/>
              </a:rPr>
              <a:t># local</a:t>
            </a:r>
            <a:endParaRPr lang="en-US" sz="1300" dirty="0"/>
          </a:p>
        </p:txBody>
      </p:sp>
      <p:sp>
        <p:nvSpPr>
          <p:cNvPr id="19" name="Text 16"/>
          <p:cNvSpPr/>
          <p:nvPr/>
        </p:nvSpPr>
        <p:spPr>
          <a:xfrm>
            <a:off x="1143000" y="4451989"/>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pi mcp add mslearn --url https://learn.microsoft.com/api/mcp </a:t>
            </a:r>
            <a:r>
              <a:rPr lang="en-US" sz="1300" dirty="0">
                <a:solidFill>
                  <a:srgbClr val="A99BBB"/>
                </a:solidFill>
                <a:latin typeface="JetBrains Mono" pitchFamily="49" charset="0"/>
                <a:ea typeface="JetBrains Mono" pitchFamily="49" charset="-122"/>
                <a:cs typeface="JetBrains Mono" pitchFamily="49" charset="-120"/>
              </a:rPr>
              <a:t># remote</a:t>
            </a:r>
            <a:endParaRPr lang="en-US" sz="1300" dirty="0"/>
          </a:p>
        </p:txBody>
      </p:sp>
      <p:sp>
        <p:nvSpPr>
          <p:cNvPr id="20" name="Text 17"/>
          <p:cNvSpPr/>
          <p:nvPr/>
        </p:nvSpPr>
        <p:spPr>
          <a:xfrm>
            <a:off x="1143000" y="4707892"/>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pi mcp list </a:t>
            </a:r>
            <a:r>
              <a:rPr lang="en-US" sz="1300" dirty="0">
                <a:solidFill>
                  <a:srgbClr val="A99BBB"/>
                </a:solidFill>
                <a:latin typeface="JetBrains Mono" pitchFamily="49" charset="0"/>
                <a:ea typeface="JetBrains Mono" pitchFamily="49" charset="-122"/>
                <a:cs typeface="JetBrains Mono" pitchFamily="49" charset="-120"/>
              </a:rPr>
              <a:t># check connections</a:t>
            </a:r>
            <a:endParaRPr lang="en-US" sz="1300" dirty="0"/>
          </a:p>
        </p:txBody>
      </p:sp>
      <p:sp>
        <p:nvSpPr>
          <p:cNvPr id="21" name="Text 18"/>
          <p:cNvSpPr/>
          <p:nvPr/>
        </p:nvSpPr>
        <p:spPr>
          <a:xfrm>
            <a:off x="1143000" y="4963796"/>
            <a:ext cx="10203180" cy="281305"/>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3EFF8"/>
                </a:solidFill>
                <a:latin typeface="JetBrains Mono" pitchFamily="49" charset="0"/>
                <a:ea typeface="JetBrains Mono" pitchFamily="49" charset="-122"/>
                <a:cs typeface="JetBrains Mono" pitchFamily="49" charset="-120"/>
              </a:rPr>
              <a:t>/mcp </a:t>
            </a:r>
            <a:r>
              <a:rPr lang="en-US" sz="1300" dirty="0">
                <a:solidFill>
                  <a:srgbClr val="A99BBB"/>
                </a:solidFill>
                <a:latin typeface="JetBrains Mono" pitchFamily="49" charset="0"/>
                <a:ea typeface="JetBrains Mono" pitchFamily="49" charset="-122"/>
                <a:cs typeface="JetBrains Mono" pitchFamily="49" charset="-120"/>
              </a:rPr>
              <a:t># in a session: inspect, sign in, enable or disable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MCP Servers to Try</a:t>
            </a:r>
            <a:endParaRPr lang="en-US" sz="3800" dirty="0"/>
          </a:p>
        </p:txBody>
      </p:sp>
      <p:sp>
        <p:nvSpPr>
          <p:cNvPr id="4" name="Shape 1"/>
          <p:cNvSpPr/>
          <p:nvPr/>
        </p:nvSpPr>
        <p:spPr>
          <a:xfrm>
            <a:off x="914400" y="1673864"/>
            <a:ext cx="3335814" cy="1605915"/>
          </a:xfrm>
          <a:prstGeom prst="roundRect">
            <a:avLst>
              <a:gd name="adj" fmla="val 6327"/>
            </a:avLst>
          </a:prstGeom>
          <a:solidFill>
            <a:srgbClr val="F4F0F9"/>
          </a:solidFill>
          <a:ln/>
        </p:spPr>
        <p:txBody>
          <a:bodyPr/>
          <a:lstStyle/>
          <a:p>
            <a:endParaRPr lang="en-US"/>
          </a:p>
        </p:txBody>
      </p:sp>
      <p:sp>
        <p:nvSpPr>
          <p:cNvPr id="5" name="Shape 2"/>
          <p:cNvSpPr/>
          <p:nvPr/>
        </p:nvSpPr>
        <p:spPr>
          <a:xfrm>
            <a:off x="914400" y="1673864"/>
            <a:ext cx="3335814" cy="1605915"/>
          </a:xfrm>
          <a:custGeom>
            <a:avLst/>
            <a:gdLst/>
            <a:ahLst/>
            <a:cxnLst/>
            <a:rect l="l" t="t" r="r" b="b"/>
            <a:pathLst>
              <a:path w="3335814" h="1605915">
                <a:moveTo>
                  <a:pt x="0" y="101600"/>
                </a:moveTo>
                <a:lnTo>
                  <a:pt x="0" y="101600"/>
                </a:lnTo>
                <a:arcTo wR="101600" hR="101600" stAng="10800000" swAng="5400000"/>
                <a:lnTo>
                  <a:pt x="3234214" y="0"/>
                </a:lnTo>
                <a:arcTo wR="101600" hR="101600" stAng="16200000" swAng="5400000"/>
                <a:lnTo>
                  <a:pt x="3335814"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6" name="Text 3"/>
          <p:cNvSpPr/>
          <p:nvPr/>
        </p:nvSpPr>
        <p:spPr>
          <a:xfrm>
            <a:off x="1143000" y="1912621"/>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GitHub</a:t>
            </a:r>
            <a:endParaRPr lang="en-US" sz="1800" dirty="0"/>
          </a:p>
        </p:txBody>
      </p:sp>
      <p:sp>
        <p:nvSpPr>
          <p:cNvPr id="7" name="Text 4"/>
          <p:cNvSpPr/>
          <p:nvPr/>
        </p:nvSpPr>
        <p:spPr>
          <a:xfrm>
            <a:off x="1143000" y="2263142"/>
            <a:ext cx="296497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Read repos, file issues and review pull requests.</a:t>
            </a:r>
            <a:endParaRPr lang="en-US" sz="1500" dirty="0"/>
          </a:p>
        </p:txBody>
      </p:sp>
      <p:sp>
        <p:nvSpPr>
          <p:cNvPr id="8" name="Text 5"/>
          <p:cNvSpPr/>
          <p:nvPr/>
        </p:nvSpPr>
        <p:spPr>
          <a:xfrm>
            <a:off x="1143000" y="2853692"/>
            <a:ext cx="2964972"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"Summarize the open issues on our repo."</a:t>
            </a:r>
            <a:endParaRPr lang="en-US" sz="1300" dirty="0"/>
          </a:p>
        </p:txBody>
      </p:sp>
      <p:sp>
        <p:nvSpPr>
          <p:cNvPr id="9" name="Shape 6"/>
          <p:cNvSpPr/>
          <p:nvPr/>
        </p:nvSpPr>
        <p:spPr>
          <a:xfrm>
            <a:off x="4428014" y="1673864"/>
            <a:ext cx="3335893" cy="1605915"/>
          </a:xfrm>
          <a:prstGeom prst="roundRect">
            <a:avLst>
              <a:gd name="adj" fmla="val 6327"/>
            </a:avLst>
          </a:prstGeom>
          <a:solidFill>
            <a:srgbClr val="F4F0F9"/>
          </a:solidFill>
          <a:ln/>
        </p:spPr>
        <p:txBody>
          <a:bodyPr/>
          <a:lstStyle/>
          <a:p>
            <a:endParaRPr lang="en-US"/>
          </a:p>
        </p:txBody>
      </p:sp>
      <p:sp>
        <p:nvSpPr>
          <p:cNvPr id="10" name="Shape 7"/>
          <p:cNvSpPr/>
          <p:nvPr/>
        </p:nvSpPr>
        <p:spPr>
          <a:xfrm>
            <a:off x="4428014" y="1673864"/>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56614" y="1912621"/>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Filesystem</a:t>
            </a:r>
            <a:endParaRPr lang="en-US" sz="1800" dirty="0"/>
          </a:p>
        </p:txBody>
      </p:sp>
      <p:sp>
        <p:nvSpPr>
          <p:cNvPr id="12" name="Text 9"/>
          <p:cNvSpPr/>
          <p:nvPr/>
        </p:nvSpPr>
        <p:spPr>
          <a:xfrm>
            <a:off x="4656614" y="2263142"/>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Read and write files in folders you choose.</a:t>
            </a:r>
            <a:endParaRPr lang="en-US" sz="1500" dirty="0"/>
          </a:p>
        </p:txBody>
      </p:sp>
      <p:sp>
        <p:nvSpPr>
          <p:cNvPr id="13" name="Text 10"/>
          <p:cNvSpPr/>
          <p:nvPr/>
        </p:nvSpPr>
        <p:spPr>
          <a:xfrm>
            <a:off x="4656614" y="2853692"/>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"Rename these scans by date."</a:t>
            </a:r>
            <a:endParaRPr lang="en-US" sz="1300" dirty="0"/>
          </a:p>
        </p:txBody>
      </p:sp>
      <p:sp>
        <p:nvSpPr>
          <p:cNvPr id="14" name="Shape 11"/>
          <p:cNvSpPr/>
          <p:nvPr/>
        </p:nvSpPr>
        <p:spPr>
          <a:xfrm>
            <a:off x="7941707" y="1673864"/>
            <a:ext cx="3335893" cy="1605915"/>
          </a:xfrm>
          <a:prstGeom prst="roundRect">
            <a:avLst>
              <a:gd name="adj" fmla="val 6327"/>
            </a:avLst>
          </a:prstGeom>
          <a:solidFill>
            <a:srgbClr val="F4F0F9"/>
          </a:solidFill>
          <a:ln/>
        </p:spPr>
        <p:txBody>
          <a:bodyPr/>
          <a:lstStyle/>
          <a:p>
            <a:endParaRPr lang="en-US"/>
          </a:p>
        </p:txBody>
      </p:sp>
      <p:sp>
        <p:nvSpPr>
          <p:cNvPr id="15" name="Shape 12"/>
          <p:cNvSpPr/>
          <p:nvPr/>
        </p:nvSpPr>
        <p:spPr>
          <a:xfrm>
            <a:off x="7941707" y="1673864"/>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6" name="Text 13"/>
          <p:cNvSpPr/>
          <p:nvPr/>
        </p:nvSpPr>
        <p:spPr>
          <a:xfrm>
            <a:off x="8170307" y="1912621"/>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Playwright</a:t>
            </a:r>
            <a:endParaRPr lang="en-US" sz="1800" dirty="0"/>
          </a:p>
        </p:txBody>
      </p:sp>
      <p:sp>
        <p:nvSpPr>
          <p:cNvPr id="17" name="Text 14"/>
          <p:cNvSpPr/>
          <p:nvPr/>
        </p:nvSpPr>
        <p:spPr>
          <a:xfrm>
            <a:off x="8170307" y="2263142"/>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Lets the agent drive a real web browser.</a:t>
            </a:r>
            <a:endParaRPr lang="en-US" sz="1500" dirty="0"/>
          </a:p>
        </p:txBody>
      </p:sp>
      <p:sp>
        <p:nvSpPr>
          <p:cNvPr id="18" name="Text 15"/>
          <p:cNvSpPr/>
          <p:nvPr/>
        </p:nvSpPr>
        <p:spPr>
          <a:xfrm>
            <a:off x="8170307" y="2853692"/>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"Check every link on our site."</a:t>
            </a:r>
            <a:endParaRPr lang="en-US" sz="1300" dirty="0"/>
          </a:p>
        </p:txBody>
      </p:sp>
      <p:sp>
        <p:nvSpPr>
          <p:cNvPr id="19" name="Shape 16"/>
          <p:cNvSpPr/>
          <p:nvPr/>
        </p:nvSpPr>
        <p:spPr>
          <a:xfrm>
            <a:off x="914400" y="3457575"/>
            <a:ext cx="3335814" cy="1605915"/>
          </a:xfrm>
          <a:prstGeom prst="roundRect">
            <a:avLst>
              <a:gd name="adj" fmla="val 6327"/>
            </a:avLst>
          </a:prstGeom>
          <a:solidFill>
            <a:srgbClr val="F4F0F9"/>
          </a:solidFill>
          <a:ln/>
        </p:spPr>
        <p:txBody>
          <a:bodyPr/>
          <a:lstStyle/>
          <a:p>
            <a:endParaRPr lang="en-US"/>
          </a:p>
        </p:txBody>
      </p:sp>
      <p:sp>
        <p:nvSpPr>
          <p:cNvPr id="20" name="Shape 17"/>
          <p:cNvSpPr/>
          <p:nvPr/>
        </p:nvSpPr>
        <p:spPr>
          <a:xfrm>
            <a:off x="914400" y="3457575"/>
            <a:ext cx="3335814" cy="1605915"/>
          </a:xfrm>
          <a:custGeom>
            <a:avLst/>
            <a:gdLst/>
            <a:ahLst/>
            <a:cxnLst/>
            <a:rect l="l" t="t" r="r" b="b"/>
            <a:pathLst>
              <a:path w="3335814" h="1605915">
                <a:moveTo>
                  <a:pt x="0" y="101600"/>
                </a:moveTo>
                <a:lnTo>
                  <a:pt x="0" y="101600"/>
                </a:lnTo>
                <a:arcTo wR="101600" hR="101600" stAng="10800000" swAng="5400000"/>
                <a:lnTo>
                  <a:pt x="3234214" y="0"/>
                </a:lnTo>
                <a:arcTo wR="101600" hR="101600" stAng="16200000" swAng="5400000"/>
                <a:lnTo>
                  <a:pt x="3335814"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21" name="Text 18"/>
          <p:cNvSpPr/>
          <p:nvPr/>
        </p:nvSpPr>
        <p:spPr>
          <a:xfrm>
            <a:off x="1143000" y="3696339"/>
            <a:ext cx="296497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Context7</a:t>
            </a:r>
            <a:endParaRPr lang="en-US" sz="1800" dirty="0"/>
          </a:p>
        </p:txBody>
      </p:sp>
      <p:sp>
        <p:nvSpPr>
          <p:cNvPr id="22" name="Text 19"/>
          <p:cNvSpPr/>
          <p:nvPr/>
        </p:nvSpPr>
        <p:spPr>
          <a:xfrm>
            <a:off x="1143000" y="4046854"/>
            <a:ext cx="296497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Current docs for code libraries and frameworks.</a:t>
            </a:r>
            <a:endParaRPr lang="en-US" sz="1500" dirty="0"/>
          </a:p>
        </p:txBody>
      </p:sp>
      <p:sp>
        <p:nvSpPr>
          <p:cNvPr id="23" name="Text 20"/>
          <p:cNvSpPr/>
          <p:nvPr/>
        </p:nvSpPr>
        <p:spPr>
          <a:xfrm>
            <a:off x="1143000" y="4637404"/>
            <a:ext cx="2964972"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"Use the latest React Router API."</a:t>
            </a:r>
            <a:endParaRPr lang="en-US" sz="1300" dirty="0"/>
          </a:p>
        </p:txBody>
      </p:sp>
      <p:sp>
        <p:nvSpPr>
          <p:cNvPr id="24" name="Shape 21"/>
          <p:cNvSpPr/>
          <p:nvPr/>
        </p:nvSpPr>
        <p:spPr>
          <a:xfrm>
            <a:off x="4428014" y="3457575"/>
            <a:ext cx="3335893" cy="1605915"/>
          </a:xfrm>
          <a:prstGeom prst="roundRect">
            <a:avLst>
              <a:gd name="adj" fmla="val 6327"/>
            </a:avLst>
          </a:prstGeom>
          <a:solidFill>
            <a:srgbClr val="F4F0F9"/>
          </a:solidFill>
          <a:ln/>
        </p:spPr>
        <p:txBody>
          <a:bodyPr/>
          <a:lstStyle/>
          <a:p>
            <a:endParaRPr lang="en-US"/>
          </a:p>
        </p:txBody>
      </p:sp>
      <p:sp>
        <p:nvSpPr>
          <p:cNvPr id="25" name="Shape 22"/>
          <p:cNvSpPr/>
          <p:nvPr/>
        </p:nvSpPr>
        <p:spPr>
          <a:xfrm>
            <a:off x="4428014" y="3457575"/>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26" name="Text 23"/>
          <p:cNvSpPr/>
          <p:nvPr/>
        </p:nvSpPr>
        <p:spPr>
          <a:xfrm>
            <a:off x="4656614" y="3696339"/>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Microsoft Learn</a:t>
            </a:r>
            <a:endParaRPr lang="en-US" sz="1800" dirty="0"/>
          </a:p>
        </p:txBody>
      </p:sp>
      <p:sp>
        <p:nvSpPr>
          <p:cNvPr id="27" name="Text 24"/>
          <p:cNvSpPr/>
          <p:nvPr/>
        </p:nvSpPr>
        <p:spPr>
          <a:xfrm>
            <a:off x="4656614" y="4046854"/>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Official Microsoft and Azure docs. No sign-in.</a:t>
            </a:r>
            <a:endParaRPr lang="en-US" sz="1500" dirty="0"/>
          </a:p>
        </p:txBody>
      </p:sp>
      <p:sp>
        <p:nvSpPr>
          <p:cNvPr id="28" name="Text 25"/>
          <p:cNvSpPr/>
          <p:nvPr/>
        </p:nvSpPr>
        <p:spPr>
          <a:xfrm>
            <a:off x="4656614" y="4637404"/>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"How do I register an Entra app?"</a:t>
            </a:r>
            <a:endParaRPr lang="en-US" sz="1300" dirty="0"/>
          </a:p>
        </p:txBody>
      </p:sp>
      <p:sp>
        <p:nvSpPr>
          <p:cNvPr id="29" name="Shape 26"/>
          <p:cNvSpPr/>
          <p:nvPr/>
        </p:nvSpPr>
        <p:spPr>
          <a:xfrm>
            <a:off x="7941707" y="3457575"/>
            <a:ext cx="3335893" cy="1605915"/>
          </a:xfrm>
          <a:prstGeom prst="roundRect">
            <a:avLst>
              <a:gd name="adj" fmla="val 6327"/>
            </a:avLst>
          </a:prstGeom>
          <a:solidFill>
            <a:srgbClr val="F4F0F9"/>
          </a:solidFill>
          <a:ln/>
        </p:spPr>
        <p:txBody>
          <a:bodyPr/>
          <a:lstStyle/>
          <a:p>
            <a:endParaRPr lang="en-US"/>
          </a:p>
        </p:txBody>
      </p:sp>
      <p:sp>
        <p:nvSpPr>
          <p:cNvPr id="30" name="Shape 27"/>
          <p:cNvSpPr/>
          <p:nvPr/>
        </p:nvSpPr>
        <p:spPr>
          <a:xfrm>
            <a:off x="7941707" y="3457575"/>
            <a:ext cx="3335893" cy="1605915"/>
          </a:xfrm>
          <a:custGeom>
            <a:avLst/>
            <a:gdLst/>
            <a:ahLst/>
            <a:cxnLst/>
            <a:rect l="l" t="t" r="r" b="b"/>
            <a:pathLst>
              <a:path w="3335893" h="1605915">
                <a:moveTo>
                  <a:pt x="0" y="101600"/>
                </a:moveTo>
                <a:lnTo>
                  <a:pt x="0" y="101600"/>
                </a:lnTo>
                <a:arcTo wR="101600" hR="101600" stAng="10800000" swAng="5400000"/>
                <a:lnTo>
                  <a:pt x="3234293" y="0"/>
                </a:lnTo>
                <a:arcTo wR="101600" hR="101600" stAng="16200000" swAng="5400000"/>
                <a:lnTo>
                  <a:pt x="3335893"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31" name="Text 28"/>
          <p:cNvSpPr/>
          <p:nvPr/>
        </p:nvSpPr>
        <p:spPr>
          <a:xfrm>
            <a:off x="8170307" y="3696339"/>
            <a:ext cx="296505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Notion</a:t>
            </a:r>
            <a:endParaRPr lang="en-US" sz="1800" dirty="0"/>
          </a:p>
        </p:txBody>
      </p:sp>
      <p:sp>
        <p:nvSpPr>
          <p:cNvPr id="32" name="Text 29"/>
          <p:cNvSpPr/>
          <p:nvPr/>
        </p:nvSpPr>
        <p:spPr>
          <a:xfrm>
            <a:off x="8170307" y="4046854"/>
            <a:ext cx="296505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F1A24"/>
                </a:solidFill>
                <a:latin typeface="Lato" pitchFamily="34" charset="0"/>
                <a:ea typeface="Lato" pitchFamily="34" charset="-122"/>
                <a:cs typeface="Lato" pitchFamily="34" charset="-120"/>
              </a:rPr>
              <a:t>Search and edit your pages and databases.</a:t>
            </a:r>
            <a:endParaRPr lang="en-US" sz="1500" dirty="0"/>
          </a:p>
        </p:txBody>
      </p:sp>
      <p:sp>
        <p:nvSpPr>
          <p:cNvPr id="33" name="Text 30"/>
          <p:cNvSpPr/>
          <p:nvPr/>
        </p:nvSpPr>
        <p:spPr>
          <a:xfrm>
            <a:off x="8170307" y="4637404"/>
            <a:ext cx="2965054" cy="248285"/>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5B5566"/>
                </a:solidFill>
                <a:latin typeface="Lato" pitchFamily="34" charset="0"/>
                <a:ea typeface="Lato" pitchFamily="34" charset="-122"/>
                <a:cs typeface="Lato" pitchFamily="34" charset="-120"/>
              </a:rPr>
              <a:t>"Add these notes to our project page."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Skills Are Harness Agnostic</a:t>
            </a:r>
            <a:endParaRPr lang="en-US" sz="3800" dirty="0"/>
          </a:p>
        </p:txBody>
      </p:sp>
      <p:sp>
        <p:nvSpPr>
          <p:cNvPr id="4" name="Text 1"/>
          <p:cNvSpPr/>
          <p:nvPr/>
        </p:nvSpPr>
        <p:spPr>
          <a:xfrm>
            <a:off x="914400" y="1673864"/>
            <a:ext cx="10674096" cy="93218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A </a:t>
            </a:r>
            <a:r>
              <a:rPr lang="en-US" sz="1700" b="1" dirty="0">
                <a:solidFill>
                  <a:srgbClr val="1F1A24"/>
                </a:solidFill>
                <a:latin typeface="Lato" pitchFamily="34" charset="0"/>
                <a:ea typeface="Lato" pitchFamily="34" charset="-122"/>
                <a:cs typeface="Lato" pitchFamily="34" charset="-120"/>
              </a:rPr>
              <a:t>skill</a:t>
            </a:r>
            <a:r>
              <a:rPr lang="en-US" sz="1700" dirty="0">
                <a:solidFill>
                  <a:srgbClr val="1F1A24"/>
                </a:solidFill>
                <a:latin typeface="Lato" pitchFamily="34" charset="0"/>
                <a:ea typeface="Lato" pitchFamily="34" charset="-122"/>
                <a:cs typeface="Lato" pitchFamily="34" charset="-120"/>
              </a:rPr>
              <a:t> is a reusable playbook that teaches the agent how to do one kind of task, such as following your style guide, building a report or running a release checklist. </a:t>
            </a:r>
            <a:r>
              <a:rPr lang="en-US" sz="1700" b="1" dirty="0">
                <a:solidFill>
                  <a:srgbClr val="1F1A24"/>
                </a:solidFill>
                <a:latin typeface="Lato" pitchFamily="34" charset="0"/>
                <a:ea typeface="Lato" pitchFamily="34" charset="-122"/>
                <a:cs typeface="Lato" pitchFamily="34" charset="-120"/>
              </a:rPr>
              <a:t>MCP gives Pi new tools; skills teach it how to use them well.</a:t>
            </a:r>
            <a:endParaRPr lang="en-US" sz="1700" dirty="0"/>
          </a:p>
        </p:txBody>
      </p:sp>
      <p:sp>
        <p:nvSpPr>
          <p:cNvPr id="5" name="Text 2"/>
          <p:cNvSpPr/>
          <p:nvPr/>
        </p:nvSpPr>
        <p:spPr>
          <a:xfrm>
            <a:off x="985520" y="2834642"/>
            <a:ext cx="5310632" cy="16256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A skill is a folder with a SKILL.md file: name, description, instructions, optional scripts</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Open standard: a Claude skill also works in Pi, Codex, Copilot, and others*</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Only the name and description load until a task needs the full skill</a:t>
            </a:r>
            <a:endParaRPr lang="en-US" sz="1500" dirty="0"/>
          </a:p>
        </p:txBody>
      </p:sp>
      <p:sp>
        <p:nvSpPr>
          <p:cNvPr id="6" name="Text 3"/>
          <p:cNvSpPr/>
          <p:nvPr/>
        </p:nvSpPr>
        <p:spPr>
          <a:xfrm>
            <a:off x="914400" y="4561842"/>
            <a:ext cx="5389372" cy="23114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5566"/>
                </a:solidFill>
                <a:latin typeface="Lato" pitchFamily="34" charset="0"/>
                <a:ea typeface="Lato" pitchFamily="34" charset="-122"/>
                <a:cs typeface="Lato" pitchFamily="34" charset="-120"/>
              </a:rPr>
              <a:t>*Tool names or scripts tied to one harness may need small tweaks</a:t>
            </a:r>
            <a:endParaRPr lang="en-US" sz="1200" dirty="0"/>
          </a:p>
        </p:txBody>
      </p:sp>
      <p:sp>
        <p:nvSpPr>
          <p:cNvPr id="7" name="Shape 4"/>
          <p:cNvSpPr/>
          <p:nvPr/>
        </p:nvSpPr>
        <p:spPr>
          <a:xfrm>
            <a:off x="6451600" y="2834642"/>
            <a:ext cx="4826000" cy="2367280"/>
          </a:xfrm>
          <a:prstGeom prst="roundRect">
            <a:avLst>
              <a:gd name="adj" fmla="val 4292"/>
            </a:avLst>
          </a:prstGeom>
          <a:solidFill>
            <a:srgbClr val="F4F0F9"/>
          </a:solidFill>
          <a:ln/>
        </p:spPr>
        <p:txBody>
          <a:bodyPr/>
          <a:lstStyle/>
          <a:p>
            <a:endParaRPr lang="en-US"/>
          </a:p>
        </p:txBody>
      </p:sp>
      <p:sp>
        <p:nvSpPr>
          <p:cNvPr id="8" name="Shape 5"/>
          <p:cNvSpPr/>
          <p:nvPr/>
        </p:nvSpPr>
        <p:spPr>
          <a:xfrm>
            <a:off x="6451600" y="2834642"/>
            <a:ext cx="4826000" cy="2367280"/>
          </a:xfrm>
          <a:custGeom>
            <a:avLst/>
            <a:gdLst/>
            <a:ahLst/>
            <a:cxnLst/>
            <a:rect l="l" t="t" r="r" b="b"/>
            <a:pathLst>
              <a:path w="4826000" h="2367280">
                <a:moveTo>
                  <a:pt x="0" y="101600"/>
                </a:moveTo>
                <a:lnTo>
                  <a:pt x="0" y="101600"/>
                </a:lnTo>
                <a:arcTo wR="101600" hR="101600" stAng="10800000" swAng="5400000"/>
                <a:lnTo>
                  <a:pt x="4724400" y="0"/>
                </a:lnTo>
                <a:arcTo wR="101600" hR="101600" stAng="16200000" swAng="5400000"/>
                <a:lnTo>
                  <a:pt x="4826000"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9" name="Text 6"/>
          <p:cNvSpPr/>
          <p:nvPr/>
        </p:nvSpPr>
        <p:spPr>
          <a:xfrm>
            <a:off x="6705600" y="3098800"/>
            <a:ext cx="444754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12888"/>
                </a:solidFill>
                <a:latin typeface="Lato" pitchFamily="34" charset="0"/>
                <a:ea typeface="Lato" pitchFamily="34" charset="-122"/>
                <a:cs typeface="Lato" pitchFamily="34" charset="-120"/>
              </a:rPr>
              <a:t>Where Pi finds skills</a:t>
            </a:r>
            <a:endParaRPr lang="en-US" sz="1800" dirty="0"/>
          </a:p>
        </p:txBody>
      </p:sp>
      <p:sp>
        <p:nvSpPr>
          <p:cNvPr id="10" name="Text 7"/>
          <p:cNvSpPr/>
          <p:nvPr/>
        </p:nvSpPr>
        <p:spPr>
          <a:xfrm>
            <a:off x="6705600" y="3462021"/>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~/.pi/agent/skills/ </a:t>
            </a:r>
            <a:r>
              <a:rPr lang="en-US" sz="1300" dirty="0">
                <a:solidFill>
                  <a:srgbClr val="5B5566"/>
                </a:solidFill>
                <a:latin typeface="JetBrains Mono" pitchFamily="49" charset="0"/>
                <a:ea typeface="JetBrains Mono" pitchFamily="49" charset="-122"/>
                <a:cs typeface="JetBrains Mono" pitchFamily="49" charset="-120"/>
              </a:rPr>
              <a:t>global</a:t>
            </a:r>
            <a:endParaRPr lang="en-US" sz="1300" dirty="0"/>
          </a:p>
        </p:txBody>
      </p:sp>
      <p:sp>
        <p:nvSpPr>
          <p:cNvPr id="11" name="Text 8"/>
          <p:cNvSpPr/>
          <p:nvPr/>
        </p:nvSpPr>
        <p:spPr>
          <a:xfrm>
            <a:off x="6705600" y="3782064"/>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.pi/skills/ </a:t>
            </a:r>
            <a:r>
              <a:rPr lang="en-US" sz="1300" dirty="0">
                <a:solidFill>
                  <a:srgbClr val="5B5566"/>
                </a:solidFill>
                <a:latin typeface="JetBrains Mono" pitchFamily="49" charset="0"/>
                <a:ea typeface="JetBrains Mono" pitchFamily="49" charset="-122"/>
                <a:cs typeface="JetBrains Mono" pitchFamily="49" charset="-120"/>
              </a:rPr>
              <a:t>project</a:t>
            </a:r>
            <a:endParaRPr lang="en-US" sz="1300" dirty="0"/>
          </a:p>
        </p:txBody>
      </p:sp>
      <p:sp>
        <p:nvSpPr>
          <p:cNvPr id="12" name="Text 9"/>
          <p:cNvSpPr/>
          <p:nvPr/>
        </p:nvSpPr>
        <p:spPr>
          <a:xfrm>
            <a:off x="6705600" y="4102100"/>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.agents/skills/ </a:t>
            </a:r>
            <a:r>
              <a:rPr lang="en-US" sz="1300" dirty="0">
                <a:solidFill>
                  <a:srgbClr val="5B5566"/>
                </a:solidFill>
                <a:latin typeface="JetBrains Mono" pitchFamily="49" charset="0"/>
                <a:ea typeface="JetBrains Mono" pitchFamily="49" charset="-122"/>
                <a:cs typeface="JetBrains Mono" pitchFamily="49" charset="-120"/>
              </a:rPr>
              <a:t>shared</a:t>
            </a:r>
            <a:endParaRPr lang="en-US" sz="1300" dirty="0"/>
          </a:p>
        </p:txBody>
      </p:sp>
      <p:sp>
        <p:nvSpPr>
          <p:cNvPr id="13" name="Text 10"/>
          <p:cNvSpPr/>
          <p:nvPr/>
        </p:nvSpPr>
        <p:spPr>
          <a:xfrm>
            <a:off x="6705600" y="4422142"/>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pi --skill &lt;path&gt; </a:t>
            </a:r>
            <a:r>
              <a:rPr lang="en-US" sz="1300" dirty="0">
                <a:solidFill>
                  <a:srgbClr val="5B5566"/>
                </a:solidFill>
                <a:latin typeface="JetBrains Mono" pitchFamily="49" charset="0"/>
                <a:ea typeface="JetBrains Mono" pitchFamily="49" charset="-122"/>
                <a:cs typeface="JetBrains Mono" pitchFamily="49" charset="-120"/>
              </a:rPr>
              <a:t>one run</a:t>
            </a:r>
            <a:endParaRPr lang="en-US" sz="1300" dirty="0"/>
          </a:p>
        </p:txBody>
      </p:sp>
      <p:sp>
        <p:nvSpPr>
          <p:cNvPr id="14" name="Text 11"/>
          <p:cNvSpPr/>
          <p:nvPr/>
        </p:nvSpPr>
        <p:spPr>
          <a:xfrm>
            <a:off x="6705600" y="4742179"/>
            <a:ext cx="444754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F1A24"/>
                </a:solidFill>
                <a:latin typeface="JetBrains Mono" pitchFamily="49" charset="0"/>
                <a:ea typeface="JetBrains Mono" pitchFamily="49" charset="-122"/>
                <a:cs typeface="JetBrains Mono" pitchFamily="49" charset="-120"/>
              </a:rPr>
              <a:t>/skill:name </a:t>
            </a:r>
            <a:r>
              <a:rPr lang="en-US" sz="1300" dirty="0">
                <a:solidFill>
                  <a:srgbClr val="5B5566"/>
                </a:solidFill>
                <a:latin typeface="JetBrains Mono" pitchFamily="49" charset="0"/>
                <a:ea typeface="JetBrains Mono" pitchFamily="49" charset="-122"/>
                <a:cs typeface="JetBrains Mono" pitchFamily="49" charset="-120"/>
              </a:rPr>
              <a:t>force a load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Build It: A Scan-Renamer Skill</a:t>
            </a:r>
            <a:endParaRPr lang="en-US" sz="3800" dirty="0"/>
          </a:p>
        </p:txBody>
      </p:sp>
      <p:sp>
        <p:nvSpPr>
          <p:cNvPr id="4" name="Text 1"/>
          <p:cNvSpPr/>
          <p:nvPr/>
        </p:nvSpPr>
        <p:spPr>
          <a:xfrm>
            <a:off x="914400" y="1673864"/>
            <a:ext cx="10674096"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F1A24"/>
                </a:solidFill>
                <a:latin typeface="Lato" pitchFamily="34" charset="0"/>
                <a:ea typeface="Lato" pitchFamily="34" charset="-122"/>
                <a:cs typeface="Lato" pitchFamily="34" charset="-120"/>
              </a:rPr>
              <a:t>In </a:t>
            </a:r>
            <a:r>
              <a:rPr lang="en-US" sz="1700" b="1" dirty="0">
                <a:solidFill>
                  <a:srgbClr val="1F1A24"/>
                </a:solidFill>
                <a:latin typeface="Lato" pitchFamily="34" charset="0"/>
                <a:ea typeface="Lato" pitchFamily="34" charset="-122"/>
                <a:cs typeface="Lato" pitchFamily="34" charset="-120"/>
              </a:rPr>
              <a:t>15 minutes</a:t>
            </a:r>
            <a:r>
              <a:rPr lang="en-US" sz="1700" dirty="0">
                <a:solidFill>
                  <a:srgbClr val="1F1A24"/>
                </a:solidFill>
                <a:latin typeface="Lato" pitchFamily="34" charset="0"/>
                <a:ea typeface="Lato" pitchFamily="34" charset="-122"/>
                <a:cs typeface="Lato" pitchFamily="34" charset="-120"/>
              </a:rPr>
              <a:t>, teach Pi one job: give a folder of badly named scans clear, consistent names.</a:t>
            </a:r>
            <a:endParaRPr lang="en-US" sz="1700" dirty="0"/>
          </a:p>
        </p:txBody>
      </p:sp>
      <p:sp>
        <p:nvSpPr>
          <p:cNvPr id="5" name="Shape 2"/>
          <p:cNvSpPr/>
          <p:nvPr/>
        </p:nvSpPr>
        <p:spPr>
          <a:xfrm>
            <a:off x="914400" y="2230121"/>
            <a:ext cx="3318907" cy="1483360"/>
          </a:xfrm>
          <a:prstGeom prst="roundRect">
            <a:avLst>
              <a:gd name="adj" fmla="val 6849"/>
            </a:avLst>
          </a:prstGeom>
          <a:solidFill>
            <a:srgbClr val="F4F0F9"/>
          </a:solidFill>
          <a:ln/>
        </p:spPr>
        <p:txBody>
          <a:bodyPr/>
          <a:lstStyle/>
          <a:p>
            <a:endParaRPr lang="en-US"/>
          </a:p>
        </p:txBody>
      </p:sp>
      <p:sp>
        <p:nvSpPr>
          <p:cNvPr id="6" name="Shape 3"/>
          <p:cNvSpPr/>
          <p:nvPr/>
        </p:nvSpPr>
        <p:spPr>
          <a:xfrm>
            <a:off x="914400" y="2230121"/>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7" name="Text 4"/>
          <p:cNvSpPr/>
          <p:nvPr/>
        </p:nvSpPr>
        <p:spPr>
          <a:xfrm>
            <a:off x="1168400" y="2519679"/>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You get</a:t>
            </a:r>
            <a:endParaRPr lang="en-US" sz="2000" dirty="0"/>
          </a:p>
        </p:txBody>
      </p:sp>
      <p:sp>
        <p:nvSpPr>
          <p:cNvPr id="8" name="Text 5"/>
          <p:cNvSpPr/>
          <p:nvPr/>
        </p:nvSpPr>
        <p:spPr>
          <a:xfrm>
            <a:off x="1168400" y="2926079"/>
            <a:ext cx="28952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Fake scans, a scanning log and a SKILL.md with three blanks</a:t>
            </a:r>
            <a:endParaRPr lang="en-US" sz="1500" dirty="0"/>
          </a:p>
        </p:txBody>
      </p:sp>
      <p:sp>
        <p:nvSpPr>
          <p:cNvPr id="9" name="Shape 6"/>
          <p:cNvSpPr/>
          <p:nvPr/>
        </p:nvSpPr>
        <p:spPr>
          <a:xfrm>
            <a:off x="4436507" y="2230121"/>
            <a:ext cx="3318986" cy="1483360"/>
          </a:xfrm>
          <a:prstGeom prst="roundRect">
            <a:avLst>
              <a:gd name="adj" fmla="val 6849"/>
            </a:avLst>
          </a:prstGeom>
          <a:solidFill>
            <a:srgbClr val="F4F0F9"/>
          </a:solidFill>
          <a:ln/>
        </p:spPr>
        <p:txBody>
          <a:bodyPr/>
          <a:lstStyle/>
          <a:p>
            <a:endParaRPr lang="en-US"/>
          </a:p>
        </p:txBody>
      </p:sp>
      <p:sp>
        <p:nvSpPr>
          <p:cNvPr id="10" name="Shape 7"/>
          <p:cNvSpPr/>
          <p:nvPr/>
        </p:nvSpPr>
        <p:spPr>
          <a:xfrm>
            <a:off x="4436507" y="2230121"/>
            <a:ext cx="3318986" cy="1483360"/>
          </a:xfrm>
          <a:custGeom>
            <a:avLst/>
            <a:gdLst/>
            <a:ahLst/>
            <a:cxnLst/>
            <a:rect l="l" t="t" r="r" b="b"/>
            <a:pathLst>
              <a:path w="3318986" h="1483360">
                <a:moveTo>
                  <a:pt x="0" y="101600"/>
                </a:moveTo>
                <a:lnTo>
                  <a:pt x="0" y="101600"/>
                </a:lnTo>
                <a:arcTo wR="101600" hR="101600" stAng="10800000" swAng="5400000"/>
                <a:lnTo>
                  <a:pt x="3217386" y="0"/>
                </a:lnTo>
                <a:arcTo wR="101600" hR="101600" stAng="16200000" swAng="5400000"/>
                <a:lnTo>
                  <a:pt x="3318986"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1" name="Text 8"/>
          <p:cNvSpPr/>
          <p:nvPr/>
        </p:nvSpPr>
        <p:spPr>
          <a:xfrm>
            <a:off x="4690507" y="2519679"/>
            <a:ext cx="289531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You write</a:t>
            </a:r>
            <a:endParaRPr lang="en-US" sz="2000" dirty="0"/>
          </a:p>
        </p:txBody>
      </p:sp>
      <p:sp>
        <p:nvSpPr>
          <p:cNvPr id="12" name="Text 9"/>
          <p:cNvSpPr/>
          <p:nvPr/>
        </p:nvSpPr>
        <p:spPr>
          <a:xfrm>
            <a:off x="4690507" y="2926079"/>
            <a:ext cx="289531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When to use it, the naming pattern, where to log changes</a:t>
            </a:r>
            <a:endParaRPr lang="en-US" sz="1500" dirty="0"/>
          </a:p>
        </p:txBody>
      </p:sp>
      <p:sp>
        <p:nvSpPr>
          <p:cNvPr id="13" name="Shape 10"/>
          <p:cNvSpPr/>
          <p:nvPr/>
        </p:nvSpPr>
        <p:spPr>
          <a:xfrm>
            <a:off x="7958693" y="2230121"/>
            <a:ext cx="3318907" cy="1483360"/>
          </a:xfrm>
          <a:prstGeom prst="roundRect">
            <a:avLst>
              <a:gd name="adj" fmla="val 6849"/>
            </a:avLst>
          </a:prstGeom>
          <a:solidFill>
            <a:srgbClr val="F4F0F9"/>
          </a:solidFill>
          <a:ln/>
        </p:spPr>
        <p:txBody>
          <a:bodyPr/>
          <a:lstStyle/>
          <a:p>
            <a:endParaRPr lang="en-US"/>
          </a:p>
        </p:txBody>
      </p:sp>
      <p:sp>
        <p:nvSpPr>
          <p:cNvPr id="14" name="Shape 11"/>
          <p:cNvSpPr/>
          <p:nvPr/>
        </p:nvSpPr>
        <p:spPr>
          <a:xfrm>
            <a:off x="7958693" y="2230121"/>
            <a:ext cx="3318907" cy="1483360"/>
          </a:xfrm>
          <a:custGeom>
            <a:avLst/>
            <a:gdLst/>
            <a:ahLst/>
            <a:cxnLst/>
            <a:rect l="l" t="t" r="r" b="b"/>
            <a:pathLst>
              <a:path w="3318907" h="1483360">
                <a:moveTo>
                  <a:pt x="0" y="101600"/>
                </a:moveTo>
                <a:lnTo>
                  <a:pt x="0" y="101600"/>
                </a:lnTo>
                <a:arcTo wR="101600" hR="101600" stAng="10800000" swAng="5400000"/>
                <a:lnTo>
                  <a:pt x="3217307" y="0"/>
                </a:lnTo>
                <a:arcTo wR="101600" hR="101600" stAng="16200000" swAng="5400000"/>
                <a:lnTo>
                  <a:pt x="3318907" y="101600"/>
                </a:lnTo>
                <a:arcTo wR="101600" hR="63500" stAng="0" swAng="-5400000"/>
                <a:lnTo>
                  <a:pt x="101600" y="38100"/>
                </a:lnTo>
                <a:arcTo wR="101600" hR="63500" stAng="16200000" swAng="-5400000"/>
                <a:close/>
              </a:path>
            </a:pathLst>
          </a:custGeom>
          <a:solidFill>
            <a:srgbClr val="512888"/>
          </a:solidFill>
          <a:ln/>
        </p:spPr>
        <p:txBody>
          <a:bodyPr/>
          <a:lstStyle/>
          <a:p>
            <a:endParaRPr lang="en-US"/>
          </a:p>
        </p:txBody>
      </p:sp>
      <p:sp>
        <p:nvSpPr>
          <p:cNvPr id="15" name="Text 12"/>
          <p:cNvSpPr/>
          <p:nvPr/>
        </p:nvSpPr>
        <p:spPr>
          <a:xfrm>
            <a:off x="8212693" y="2519679"/>
            <a:ext cx="289523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12888"/>
                </a:solidFill>
                <a:latin typeface="Lato" pitchFamily="34" charset="0"/>
                <a:ea typeface="Lato" pitchFamily="34" charset="-122"/>
                <a:cs typeface="Lato" pitchFamily="34" charset="-120"/>
              </a:rPr>
              <a:t>Pi does</a:t>
            </a:r>
            <a:endParaRPr lang="en-US" sz="2000" dirty="0"/>
          </a:p>
        </p:txBody>
      </p:sp>
      <p:sp>
        <p:nvSpPr>
          <p:cNvPr id="16" name="Text 13"/>
          <p:cNvSpPr/>
          <p:nvPr/>
        </p:nvSpPr>
        <p:spPr>
          <a:xfrm>
            <a:off x="8212693" y="2926079"/>
            <a:ext cx="289523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F1A24"/>
                </a:solidFill>
                <a:latin typeface="Lato" pitchFamily="34" charset="0"/>
                <a:ea typeface="Lato" pitchFamily="34" charset="-122"/>
                <a:cs typeface="Lato" pitchFamily="34" charset="-120"/>
              </a:rPr>
              <a:t>Shows its plan, waits for your yes, then renames the files</a:t>
            </a:r>
            <a:endParaRPr lang="en-US" sz="1500" dirty="0"/>
          </a:p>
        </p:txBody>
      </p:sp>
      <p:sp>
        <p:nvSpPr>
          <p:cNvPr id="17" name="Text 14"/>
          <p:cNvSpPr/>
          <p:nvPr/>
        </p:nvSpPr>
        <p:spPr>
          <a:xfrm>
            <a:off x="914400" y="3967479"/>
            <a:ext cx="10674096" cy="299720"/>
          </a:xfrm>
          <a:prstGeom prst="rect">
            <a:avLst/>
          </a:prstGeom>
          <a:noFill/>
          <a:ln/>
        </p:spPr>
        <p:txBody>
          <a:bodyPr wrap="square" lIns="0" tIns="0" rIns="0" bIns="0" rtlCol="0" anchor="t">
            <a:normAutofit/>
          </a:bodyPr>
          <a:lstStyle/>
          <a:p>
            <a:pPr marL="0" indent="0" algn="l">
              <a:lnSpc>
                <a:spcPct val="100000"/>
              </a:lnSpc>
              <a:buNone/>
            </a:pPr>
            <a:r>
              <a:rPr lang="en-US" sz="1600" dirty="0">
                <a:solidFill>
                  <a:srgbClr val="1F1A24"/>
                </a:solidFill>
                <a:latin typeface="Lato" pitchFamily="34" charset="0"/>
                <a:ea typeface="Lato" pitchFamily="34" charset="-122"/>
                <a:cs typeface="Lato" pitchFamily="34" charset="-120"/>
              </a:rPr>
              <a:t>Download the kit: </a:t>
            </a:r>
            <a:r>
              <a:rPr lang="en-US" sz="1600" u="sng" dirty="0">
                <a:solidFill>
                  <a:srgbClr val="0070C0"/>
                </a:solidFill>
                <a:latin typeface="Lato" pitchFamily="34" charset="0"/>
                <a:ea typeface="Lato" pitchFamily="34" charset="-122"/>
                <a:cs typeface="Lato" pitchFamily="34" charset="-120"/>
              </a:rPr>
              <a:t>https://github.com/sawyerb-ksu/heartland-ai-symposium-pi </a:t>
            </a:r>
            <a:r>
              <a:rPr lang="en-US" sz="1600" dirty="0">
                <a:solidFill>
                  <a:srgbClr val="5B5566"/>
                </a:solidFill>
                <a:latin typeface="Lato" pitchFamily="34" charset="0"/>
                <a:ea typeface="Lato" pitchFamily="34" charset="-122"/>
                <a:cs typeface="Lato" pitchFamily="34" charset="-120"/>
              </a:rPr>
              <a:t>· Extract it to your Downloads folder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Step 1: Fill In the Skill</a:t>
            </a:r>
            <a:endParaRPr lang="en-US" sz="3800" dirty="0"/>
          </a:p>
        </p:txBody>
      </p:sp>
      <p:sp>
        <p:nvSpPr>
          <p:cNvPr id="4" name="Text 1"/>
          <p:cNvSpPr/>
          <p:nvPr/>
        </p:nvSpPr>
        <p:spPr>
          <a:xfrm>
            <a:off x="914400" y="1673864"/>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Open the starter folder in PowerShell:</a:t>
            </a:r>
            <a:endParaRPr lang="en-US" sz="1600" dirty="0"/>
          </a:p>
        </p:txBody>
      </p:sp>
      <p:sp>
        <p:nvSpPr>
          <p:cNvPr id="5" name="Text 2"/>
          <p:cNvSpPr/>
          <p:nvPr/>
        </p:nvSpPr>
        <p:spPr>
          <a:xfrm>
            <a:off x="914400" y="2125979"/>
            <a:ext cx="4572000" cy="604520"/>
          </a:xfrm>
          <a:prstGeom prst="roundRect">
            <a:avLst>
              <a:gd name="adj" fmla="val 10504"/>
            </a:avLst>
          </a:prstGeom>
          <a:solidFill>
            <a:srgbClr val="2A2133"/>
          </a:solidFill>
          <a:ln/>
        </p:spPr>
        <p:txBody>
          <a:bodyPr wrap="square" lIns="133801" tIns="70301" rIns="5785" bIns="44901" rtlCol="0" anchor="t">
            <a:normAutofit/>
          </a:bodyPr>
          <a:lstStyle/>
          <a:p>
            <a:pPr marL="0" indent="0" algn="l">
              <a:lnSpc>
                <a:spcPts val="1680"/>
              </a:lnSpc>
              <a:buNone/>
            </a:pPr>
            <a:r>
              <a:rPr lang="en-US" sz="1200" dirty="0">
                <a:solidFill>
                  <a:srgbClr val="F3EFF8"/>
                </a:solidFill>
                <a:latin typeface="JetBrains Mono" pitchFamily="49" charset="0"/>
                <a:ea typeface="JetBrains Mono" pitchFamily="49" charset="-122"/>
                <a:cs typeface="JetBrains Mono" pitchFamily="49" charset="-120"/>
              </a:rPr>
              <a:t>cd ~\Downloads\scan-renamer-kit\starter</a:t>
            </a:r>
            <a:endParaRPr lang="en-US" sz="1200" dirty="0"/>
          </a:p>
          <a:p>
            <a:pPr marL="0" indent="0" algn="l">
              <a:lnSpc>
                <a:spcPts val="1680"/>
              </a:lnSpc>
              <a:buNone/>
            </a:pPr>
            <a:r>
              <a:rPr lang="en-US" sz="1200" dirty="0">
                <a:solidFill>
                  <a:srgbClr val="F3EFF8"/>
                </a:solidFill>
                <a:latin typeface="JetBrains Mono" pitchFamily="49" charset="0"/>
                <a:ea typeface="JetBrains Mono" pitchFamily="49" charset="-122"/>
                <a:cs typeface="JetBrains Mono" pitchFamily="49" charset="-120"/>
              </a:rPr>
              <a:t>code .agents\skills\scan-renamer\SKILL.md</a:t>
            </a:r>
            <a:endParaRPr lang="en-US" sz="1200" dirty="0"/>
          </a:p>
        </p:txBody>
      </p:sp>
      <p:sp>
        <p:nvSpPr>
          <p:cNvPr id="6" name="Text 3"/>
          <p:cNvSpPr/>
          <p:nvPr/>
        </p:nvSpPr>
        <p:spPr>
          <a:xfrm>
            <a:off x="914400" y="2908300"/>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Fill in the three </a:t>
            </a:r>
            <a:r>
              <a:rPr lang="en-US" sz="1600" b="1" dirty="0">
                <a:solidFill>
                  <a:srgbClr val="A8741A"/>
                </a:solidFill>
                <a:latin typeface="Lato" pitchFamily="34" charset="0"/>
                <a:ea typeface="Lato" pitchFamily="34" charset="-122"/>
                <a:cs typeface="Lato" pitchFamily="34" charset="-120"/>
              </a:rPr>
              <a:t>blanks</a:t>
            </a:r>
            <a:r>
              <a:rPr lang="en-US" sz="1600" dirty="0">
                <a:solidFill>
                  <a:srgbClr val="1F1A24"/>
                </a:solidFill>
                <a:latin typeface="Lato" pitchFamily="34" charset="0"/>
                <a:ea typeface="Lato" pitchFamily="34" charset="-122"/>
                <a:cs typeface="Lato" pitchFamily="34" charset="-120"/>
              </a:rPr>
              <a:t>:</a:t>
            </a:r>
            <a:endParaRPr lang="en-US" sz="1600" dirty="0"/>
          </a:p>
        </p:txBody>
      </p:sp>
      <p:sp>
        <p:nvSpPr>
          <p:cNvPr id="7" name="Text 4"/>
          <p:cNvSpPr/>
          <p:nvPr/>
        </p:nvSpPr>
        <p:spPr>
          <a:xfrm>
            <a:off x="985520" y="3360421"/>
            <a:ext cx="4630420" cy="8255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When Pi should use it</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Pattern: try DATE_collection_title.ext</a:t>
            </a:r>
            <a:endParaRPr lang="en-US" sz="1500" dirty="0"/>
          </a:p>
          <a:p>
            <a:pPr marL="182880" indent="-182880" algn="l">
              <a:lnSpc>
                <a:spcPts val="2100"/>
              </a:lnSpc>
              <a:buSzPct val="100000"/>
              <a:buChar char="•"/>
            </a:pPr>
            <a:r>
              <a:rPr lang="en-US" sz="1500" dirty="0">
                <a:solidFill>
                  <a:srgbClr val="1F1A24"/>
                </a:solidFill>
                <a:latin typeface="Lato" pitchFamily="34" charset="0"/>
                <a:ea typeface="Lato" pitchFamily="34" charset="-122"/>
                <a:cs typeface="Lato" pitchFamily="34" charset="-120"/>
              </a:rPr>
              <a:t>Log file: try rename-log.md</a:t>
            </a:r>
            <a:endParaRPr lang="en-US" sz="1500" dirty="0"/>
          </a:p>
        </p:txBody>
      </p:sp>
      <p:sp>
        <p:nvSpPr>
          <p:cNvPr id="8" name="Text 5"/>
          <p:cNvSpPr/>
          <p:nvPr/>
        </p:nvSpPr>
        <p:spPr>
          <a:xfrm>
            <a:off x="914400" y="4338321"/>
            <a:ext cx="4709160"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Save the file</a:t>
            </a:r>
            <a:endParaRPr lang="en-US" sz="1600" dirty="0"/>
          </a:p>
        </p:txBody>
      </p:sp>
      <p:sp>
        <p:nvSpPr>
          <p:cNvPr id="9" name="Text 6"/>
          <p:cNvSpPr/>
          <p:nvPr/>
        </p:nvSpPr>
        <p:spPr>
          <a:xfrm>
            <a:off x="5816600" y="1714500"/>
            <a:ext cx="5461000" cy="3525520"/>
          </a:xfrm>
          <a:prstGeom prst="roundRect">
            <a:avLst>
              <a:gd name="adj" fmla="val 2161"/>
            </a:avLst>
          </a:prstGeom>
          <a:solidFill>
            <a:srgbClr val="2A2133"/>
          </a:solidFill>
          <a:ln/>
        </p:spPr>
        <p:txBody>
          <a:bodyPr wrap="square" lIns="231682" tIns="155482" rIns="83092" bIns="130082" rtlCol="0" anchor="t">
            <a:normAutofit/>
          </a:bodyPr>
          <a:lstStyle/>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name: scan-renamer</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description: Rename scans to clear names using the scanning log. Use when </a:t>
            </a:r>
            <a:r>
              <a:rPr lang="en-US" sz="1200" dirty="0">
                <a:solidFill>
                  <a:srgbClr val="F5C26B"/>
                </a:solidFill>
                <a:latin typeface="JetBrains Mono" pitchFamily="49" charset="0"/>
                <a:ea typeface="JetBrains Mono" pitchFamily="49" charset="-122"/>
                <a:cs typeface="JetBrains Mono" pitchFamily="49" charset="-120"/>
              </a:rPr>
              <a:t>________</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a:t>
            </a:r>
            <a:endParaRPr lang="en-US" sz="1200" dirty="0"/>
          </a:p>
          <a:p>
            <a:pPr marL="0" indent="0" algn="l">
              <a:lnSpc>
                <a:spcPts val="1560"/>
              </a:lnSpc>
              <a:buNone/>
            </a:pP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 Rename scanned files</a:t>
            </a:r>
            <a:endParaRPr lang="en-US" sz="1200" dirty="0"/>
          </a:p>
          <a:p>
            <a:pPr marL="0" indent="0" algn="l">
              <a:lnSpc>
                <a:spcPts val="1560"/>
              </a:lnSpc>
              <a:buNone/>
            </a:pP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1. Read scanning-log.csv and every file in scans/.</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2. Skip files not in the log. Don't guess dates.</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3. Name each file with this pattern: </a:t>
            </a:r>
            <a:r>
              <a:rPr lang="en-US" sz="1200" dirty="0">
                <a:solidFill>
                  <a:srgbClr val="F5C26B"/>
                </a:solidFill>
                <a:latin typeface="JetBrains Mono" pitchFamily="49" charset="0"/>
                <a:ea typeface="JetBrains Mono" pitchFamily="49" charset="-122"/>
                <a:cs typeface="JetBrains Mono" pitchFamily="49" charset="-120"/>
              </a:rPr>
              <a:t>________</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4. Save a record to </a:t>
            </a:r>
            <a:r>
              <a:rPr lang="en-US" sz="1200" dirty="0">
                <a:solidFill>
                  <a:srgbClr val="F5C26B"/>
                </a:solidFill>
                <a:latin typeface="JetBrains Mono" pitchFamily="49" charset="0"/>
                <a:ea typeface="JetBrains Mono" pitchFamily="49" charset="-122"/>
                <a:cs typeface="JetBrains Mono" pitchFamily="49" charset="-120"/>
              </a:rPr>
              <a:t>________</a:t>
            </a:r>
            <a:r>
              <a:rPr lang="en-US" sz="1200" dirty="0">
                <a:solidFill>
                  <a:srgbClr val="F3EFF8"/>
                </a:solidFill>
                <a:latin typeface="JetBrains Mono" pitchFamily="49" charset="0"/>
                <a:ea typeface="JetBrains Mono" pitchFamily="49" charset="-122"/>
                <a:cs typeface="JetBrains Mono" pitchFamily="49" charset="-120"/>
              </a:rPr>
              <a:t> so renames can be undone.</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5. Show the plan first. Rename only after a yes.</a:t>
            </a:r>
            <a:endParaRPr lang="en-US" sz="1200" dirty="0"/>
          </a:p>
          <a:p>
            <a:pPr marL="0" indent="0" algn="l">
              <a:lnSpc>
                <a:spcPts val="1560"/>
              </a:lnSpc>
              <a:buNone/>
            </a:pPr>
            <a:r>
              <a:rPr lang="en-US" sz="1200" dirty="0">
                <a:solidFill>
                  <a:srgbClr val="F3EFF8"/>
                </a:solidFill>
                <a:latin typeface="JetBrains Mono" pitchFamily="49" charset="0"/>
                <a:ea typeface="JetBrains Mono" pitchFamily="49" charset="-122"/>
                <a:cs typeface="JetBrains Mono" pitchFamily="49" charset="-120"/>
              </a:rPr>
              <a:t>6. Reply with how many were renamed and skipped.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Step 2: Run It</a:t>
            </a:r>
            <a:endParaRPr lang="en-US" sz="3800" dirty="0"/>
          </a:p>
        </p:txBody>
      </p:sp>
      <p:sp>
        <p:nvSpPr>
          <p:cNvPr id="4" name="Text 1"/>
          <p:cNvSpPr/>
          <p:nvPr/>
        </p:nvSpPr>
        <p:spPr>
          <a:xfrm>
            <a:off x="914400" y="1559564"/>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1.</a:t>
            </a:r>
            <a:r>
              <a:rPr lang="en-US" sz="1600" dirty="0">
                <a:solidFill>
                  <a:srgbClr val="1F1A24"/>
                </a:solidFill>
                <a:latin typeface="Lato" pitchFamily="34" charset="0"/>
                <a:ea typeface="Lato" pitchFamily="34" charset="-122"/>
                <a:cs typeface="Lato" pitchFamily="34" charset="-120"/>
              </a:rPr>
              <a:t> Start Pi in the starter folder. When it asks to trust this project, say </a:t>
            </a:r>
            <a:r>
              <a:rPr lang="en-US" sz="1600" b="1" dirty="0">
                <a:solidFill>
                  <a:srgbClr val="1F1A24"/>
                </a:solidFill>
                <a:latin typeface="Lato" pitchFamily="34" charset="0"/>
                <a:ea typeface="Lato" pitchFamily="34" charset="-122"/>
                <a:cs typeface="Lato" pitchFamily="34" charset="-120"/>
              </a:rPr>
              <a:t>yes</a:t>
            </a:r>
            <a:r>
              <a:rPr lang="en-US" sz="1600" dirty="0">
                <a:solidFill>
                  <a:srgbClr val="1F1A24"/>
                </a:solidFill>
                <a:latin typeface="Lato" pitchFamily="34" charset="0"/>
                <a:ea typeface="Lato" pitchFamily="34" charset="-122"/>
                <a:cs typeface="Lato" pitchFamily="34" charset="-120"/>
              </a:rPr>
              <a:t>:</a:t>
            </a:r>
            <a:endParaRPr lang="en-US" sz="1600" dirty="0"/>
          </a:p>
        </p:txBody>
      </p:sp>
      <p:sp>
        <p:nvSpPr>
          <p:cNvPr id="5" name="Text 2"/>
          <p:cNvSpPr/>
          <p:nvPr/>
        </p:nvSpPr>
        <p:spPr>
          <a:xfrm>
            <a:off x="914400" y="1973579"/>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a:t>
            </a:r>
            <a:endParaRPr lang="en-US" sz="1300" dirty="0"/>
          </a:p>
        </p:txBody>
      </p:sp>
      <p:sp>
        <p:nvSpPr>
          <p:cNvPr id="6" name="Text 3"/>
          <p:cNvSpPr/>
          <p:nvPr/>
        </p:nvSpPr>
        <p:spPr>
          <a:xfrm>
            <a:off x="914400" y="2538729"/>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2.</a:t>
            </a:r>
            <a:r>
              <a:rPr lang="en-US" sz="1600" dirty="0">
                <a:solidFill>
                  <a:srgbClr val="1F1A24"/>
                </a:solidFill>
                <a:latin typeface="Lato" pitchFamily="34" charset="0"/>
                <a:ea typeface="Lato" pitchFamily="34" charset="-122"/>
                <a:cs typeface="Lato" pitchFamily="34" charset="-120"/>
              </a:rPr>
              <a:t> Ask Pi to tidy your scans (or force the skill with </a:t>
            </a:r>
            <a:r>
              <a:rPr lang="en-US" sz="1600" b="1" dirty="0">
                <a:solidFill>
                  <a:srgbClr val="1F1A24"/>
                </a:solidFill>
                <a:latin typeface="Lato" pitchFamily="34" charset="0"/>
                <a:ea typeface="Lato" pitchFamily="34" charset="-122"/>
                <a:cs typeface="Lato" pitchFamily="34" charset="-120"/>
              </a:rPr>
              <a:t>/skill:scan-renamer</a:t>
            </a:r>
            <a:r>
              <a:rPr lang="en-US" sz="1600" dirty="0">
                <a:solidFill>
                  <a:srgbClr val="1F1A24"/>
                </a:solidFill>
                <a:latin typeface="Lato" pitchFamily="34" charset="0"/>
                <a:ea typeface="Lato" pitchFamily="34" charset="-122"/>
                <a:cs typeface="Lato" pitchFamily="34" charset="-120"/>
              </a:rPr>
              <a:t>):</a:t>
            </a:r>
            <a:endParaRPr lang="en-US" sz="1600" dirty="0"/>
          </a:p>
        </p:txBody>
      </p:sp>
      <p:sp>
        <p:nvSpPr>
          <p:cNvPr id="7" name="Text 4"/>
          <p:cNvSpPr/>
          <p:nvPr/>
        </p:nvSpPr>
        <p:spPr>
          <a:xfrm>
            <a:off x="914400" y="2952750"/>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Clean up the names of my scans.</a:t>
            </a:r>
            <a:endParaRPr lang="en-US" sz="1300" dirty="0"/>
          </a:p>
        </p:txBody>
      </p:sp>
      <p:sp>
        <p:nvSpPr>
          <p:cNvPr id="8" name="Text 5"/>
          <p:cNvSpPr/>
          <p:nvPr/>
        </p:nvSpPr>
        <p:spPr>
          <a:xfrm>
            <a:off x="914400" y="3517900"/>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3.</a:t>
            </a:r>
            <a:r>
              <a:rPr lang="en-US" sz="1600" dirty="0">
                <a:solidFill>
                  <a:srgbClr val="1F1A24"/>
                </a:solidFill>
                <a:latin typeface="Lato" pitchFamily="34" charset="0"/>
                <a:ea typeface="Lato" pitchFamily="34" charset="-122"/>
                <a:cs typeface="Lato" pitchFamily="34" charset="-120"/>
              </a:rPr>
              <a:t> Check Pi's plan against </a:t>
            </a:r>
            <a:r>
              <a:rPr lang="en-US" sz="1600" b="1" dirty="0">
                <a:solidFill>
                  <a:srgbClr val="1F1A24"/>
                </a:solidFill>
                <a:latin typeface="Lato" pitchFamily="34" charset="0"/>
                <a:ea typeface="Lato" pitchFamily="34" charset="-122"/>
                <a:cs typeface="Lato" pitchFamily="34" charset="-120"/>
              </a:rPr>
              <a:t>scanning-log.csv</a:t>
            </a:r>
            <a:r>
              <a:rPr lang="en-US" sz="1600" dirty="0">
                <a:solidFill>
                  <a:srgbClr val="1F1A24"/>
                </a:solidFill>
                <a:latin typeface="Lato" pitchFamily="34" charset="0"/>
                <a:ea typeface="Lato" pitchFamily="34" charset="-122"/>
                <a:cs typeface="Lato" pitchFamily="34" charset="-120"/>
              </a:rPr>
              <a:t>, then say yes. Anything guessed?</a:t>
            </a:r>
            <a:endParaRPr lang="en-US" sz="1600" dirty="0"/>
          </a:p>
        </p:txBody>
      </p:sp>
      <p:sp>
        <p:nvSpPr>
          <p:cNvPr id="9" name="Text 6"/>
          <p:cNvSpPr/>
          <p:nvPr/>
        </p:nvSpPr>
        <p:spPr>
          <a:xfrm>
            <a:off x="914400" y="3931921"/>
            <a:ext cx="10674096" cy="299720"/>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F1A24"/>
                </a:solidFill>
                <a:latin typeface="Lato" pitchFamily="34" charset="0"/>
                <a:ea typeface="Lato" pitchFamily="34" charset="-122"/>
                <a:cs typeface="Lato" pitchFamily="34" charset="-120"/>
              </a:rPr>
              <a:t>4.</a:t>
            </a:r>
            <a:r>
              <a:rPr lang="en-US" sz="1600" dirty="0">
                <a:solidFill>
                  <a:srgbClr val="1F1A24"/>
                </a:solidFill>
                <a:latin typeface="Lato" pitchFamily="34" charset="0"/>
                <a:ea typeface="Lato" pitchFamily="34" charset="-122"/>
                <a:cs typeface="Lato" pitchFamily="34" charset="-120"/>
              </a:rPr>
              <a:t> Stretch: ask Pi to undo the renames, change one rule, then reload and ask again:</a:t>
            </a:r>
            <a:endParaRPr lang="en-US" sz="1600" dirty="0"/>
          </a:p>
        </p:txBody>
      </p:sp>
      <p:sp>
        <p:nvSpPr>
          <p:cNvPr id="10" name="Text 7"/>
          <p:cNvSpPr/>
          <p:nvPr/>
        </p:nvSpPr>
        <p:spPr>
          <a:xfrm>
            <a:off x="914400" y="4345942"/>
            <a:ext cx="10363200" cy="425450"/>
          </a:xfrm>
          <a:prstGeom prst="roundRect">
            <a:avLst>
              <a:gd name="adj" fmla="val 14925"/>
            </a:avLst>
          </a:prstGeom>
          <a:solidFill>
            <a:srgbClr val="2A2133"/>
          </a:solidFill>
          <a:ln/>
        </p:spPr>
        <p:txBody>
          <a:bodyPr wrap="square" lIns="159201" tIns="70301" rIns="0" bIns="449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/reload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a:spLocks noGrp="1"/>
          </p:cNvSpPr>
          <p:nvPr>
            <p:ph type="title"/>
          </p:nvPr>
        </p:nvSpPr>
        <p:spPr>
          <a:xfrm>
            <a:off x="914400" y="889000"/>
            <a:ext cx="10674096" cy="556260"/>
          </a:xfrm>
          <a:prstGeom prst="rect">
            <a:avLst/>
          </a:prstGeom>
          <a:noFill/>
          <a:ln/>
        </p:spPr>
        <p:txBody>
          <a:bodyPr wrap="square" lIns="0" tIns="0" rIns="0" bIns="0" rtlCol="0" anchor="t">
            <a:normAutofit/>
          </a:bodyPr>
          <a:lstStyle/>
          <a:p>
            <a:pPr marL="0" indent="0" algn="l">
              <a:lnSpc>
                <a:spcPts val="4180"/>
              </a:lnSpc>
              <a:buNone/>
            </a:pPr>
            <a:r>
              <a:rPr lang="en-US" sz="3800" b="0" i="0" dirty="0">
                <a:solidFill>
                  <a:srgbClr val="1F1A24"/>
                </a:solidFill>
                <a:latin typeface="Lato" pitchFamily="34" charset="0"/>
                <a:ea typeface="Lato" pitchFamily="34" charset="-122"/>
                <a:cs typeface="Lato" pitchFamily="34" charset="-120"/>
              </a:rPr>
              <a:t>Behind? Run the Finished Version</a:t>
            </a:r>
            <a:endParaRPr lang="en-US" sz="3800" dirty="0"/>
          </a:p>
        </p:txBody>
      </p:sp>
      <p:sp>
        <p:nvSpPr>
          <p:cNvPr id="4" name="Text 1"/>
          <p:cNvSpPr/>
          <p:nvPr/>
        </p:nvSpPr>
        <p:spPr>
          <a:xfrm>
            <a:off x="914400" y="1623058"/>
            <a:ext cx="10363200" cy="971550"/>
          </a:xfrm>
          <a:prstGeom prst="roundRect">
            <a:avLst>
              <a:gd name="adj" fmla="val 6536"/>
            </a:avLst>
          </a:prstGeom>
          <a:solidFill>
            <a:srgbClr val="2A2133"/>
          </a:solidFill>
          <a:ln/>
        </p:spPr>
        <p:txBody>
          <a:bodyPr wrap="square" lIns="159201" tIns="95701" rIns="0" bIns="70301" rtlCol="0" anchor="t">
            <a:normAutofit/>
          </a:bodyPr>
          <a:lstStyle/>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cd ~\Downloads\scan-renamer-kit\finished</a:t>
            </a:r>
            <a:endParaRPr lang="en-US" sz="1300" dirty="0"/>
          </a:p>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pi</a:t>
            </a:r>
            <a:endParaRPr lang="en-US" sz="1300" dirty="0"/>
          </a:p>
          <a:p>
            <a:pPr marL="0" indent="0" algn="l">
              <a:lnSpc>
                <a:spcPts val="1950"/>
              </a:lnSpc>
              <a:buNone/>
            </a:pPr>
            <a:r>
              <a:rPr lang="en-US" sz="1300" dirty="0">
                <a:solidFill>
                  <a:srgbClr val="F3EFF8"/>
                </a:solidFill>
                <a:latin typeface="JetBrains Mono" pitchFamily="49" charset="0"/>
                <a:ea typeface="JetBrains Mono" pitchFamily="49" charset="-122"/>
                <a:cs typeface="JetBrains Mono" pitchFamily="49" charset="-120"/>
              </a:rPr>
              <a:t>/skill:scan-renamer</a:t>
            </a:r>
            <a:endParaRPr lang="en-US" sz="1300" dirty="0"/>
          </a:p>
        </p:txBody>
      </p:sp>
      <p:sp>
        <p:nvSpPr>
          <p:cNvPr id="5" name="Text 2"/>
          <p:cNvSpPr/>
          <p:nvPr/>
        </p:nvSpPr>
        <p:spPr>
          <a:xfrm>
            <a:off x="914400" y="2797808"/>
            <a:ext cx="10674096" cy="29972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1A24"/>
                </a:solidFill>
                <a:latin typeface="Lato" pitchFamily="34" charset="0"/>
                <a:ea typeface="Lato" pitchFamily="34" charset="-122"/>
                <a:cs typeface="Lato" pitchFamily="34" charset="-120"/>
              </a:rPr>
              <a:t>You should get </a:t>
            </a:r>
            <a:r>
              <a:rPr lang="en-US" sz="1600" b="1" dirty="0">
                <a:solidFill>
                  <a:srgbClr val="1F1A24"/>
                </a:solidFill>
                <a:latin typeface="Lato" pitchFamily="34" charset="0"/>
                <a:ea typeface="Lato" pitchFamily="34" charset="-122"/>
                <a:cs typeface="Lato" pitchFamily="34" charset="-120"/>
              </a:rPr>
              <a:t>8 renamed, 1 skipped, 1 missing</a:t>
            </a:r>
            <a:r>
              <a:rPr lang="en-US" sz="1600" dirty="0">
                <a:solidFill>
                  <a:srgbClr val="1F1A24"/>
                </a:solidFill>
                <a:latin typeface="Lato" pitchFamily="34" charset="0"/>
                <a:ea typeface="Lato" pitchFamily="34" charset="-122"/>
                <a:cs typeface="Lato" pitchFamily="34" charset="-120"/>
              </a:rPr>
              <a:t>. A few rows from the plan:</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3285495"/>
          <a:ext cx="10353040" cy="2188210"/>
        </p:xfrm>
        <a:graphic>
          <a:graphicData uri="http://schemas.openxmlformats.org/drawingml/2006/table">
            <a:tbl>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gridCol w="1026160">
                  <a:extLst>
                    <a:ext uri="{9D8B030D-6E8A-4147-A177-3AD203B41FA5}">
                      <a16:colId xmlns:a16="http://schemas.microsoft.com/office/drawing/2014/main" val="20003"/>
                    </a:ext>
                  </a:extLst>
                </a:gridCol>
              </a:tblGrid>
              <a:tr h="351790">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Current 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Log date</a:t>
                      </a:r>
                      <a:endParaRPr lang="en-US" sz="1300" dirty="0">
                        <a:latin typeface="Lato" charset="0"/>
                        <a:ea typeface="Lato" charset="0"/>
                        <a:cs typeface="Lato" charset="0"/>
                      </a:endParaRPr>
                    </a:p>
                  </a:txBody>
                  <a:tcPr marL="101600" marR="101600" marT="63500" marB="63500">
                    <a:lnL w="12700" cap="flat" cmpd="sng" algn="ctr">
                      <a:solidFill>
                        <a:srgbClr val="44246E"/>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New name</a:t>
                      </a:r>
                      <a:endParaRPr lang="en-US" sz="1300" dirty="0">
                        <a:latin typeface="Lato" charset="0"/>
                        <a:ea typeface="Lato" charset="0"/>
                        <a:cs typeface="Lato" charset="0"/>
                      </a:endParaRPr>
                    </a:p>
                  </a:txBody>
                  <a:tcPr marL="101600" marR="101600" marT="63500" marB="63500">
                    <a:lnL w="12700" cap="flat" cmpd="sng" algn="ctr">
                      <a:solidFill>
                        <a:srgbClr val="44246E"/>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tc>
                  <a:txBody>
                    <a:bodyPr/>
                    <a:lstStyle/>
                    <a:p>
                      <a:pPr marL="0" indent="0">
                        <a:lnSpc>
                          <a:spcPts val="1820"/>
                        </a:lnSpc>
                        <a:buNone/>
                      </a:pPr>
                      <a:r>
                        <a:rPr lang="en-US" sz="1300" b="1" dirty="0">
                          <a:solidFill>
                            <a:srgbClr val="FFFFFF"/>
                          </a:solidFill>
                          <a:latin typeface="Lato" pitchFamily="34" charset="0"/>
                          <a:ea typeface="Lato" pitchFamily="34" charset="-122"/>
                          <a:cs typeface="Lato" pitchFamily="34" charset="-120"/>
                        </a:rPr>
                        <a:t>Status</a:t>
                      </a:r>
                      <a:endParaRPr lang="en-US" sz="1300" dirty="0">
                        <a:latin typeface="Lato" charset="0"/>
                        <a:ea typeface="Lato" charset="0"/>
                        <a:cs typeface="Lato" charset="0"/>
                      </a:endParaRPr>
                    </a:p>
                  </a:txBody>
                  <a:tcPr marL="101600" marR="101600" marT="63500" marB="63500">
                    <a:lnL w="12700" cap="flat" cmpd="sng" algn="ctr">
                      <a:solidFill>
                        <a:srgbClr val="44246E"/>
                      </a:solidFill>
                      <a:prstDash val="solid"/>
                      <a:round/>
                      <a:headEnd type="none" w="med" len="med"/>
                      <a:tailEnd type="none" w="med" len="med"/>
                    </a:lnL>
                    <a:lnR w="12700" cap="flat" cmpd="sng" algn="ctr">
                      <a:solidFill>
                        <a:srgbClr val="44246E"/>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44246E"/>
                      </a:solidFill>
                      <a:prstDash val="solid"/>
                      <a:round/>
                      <a:headEnd type="none" w="med" len="med"/>
                      <a:tailEnd type="none" w="med" len="med"/>
                    </a:lnB>
                    <a:solidFill>
                      <a:srgbClr val="512888"/>
                    </a:solidFill>
                  </a:tcPr>
                </a:tc>
                <a:extLst>
                  <a:ext uri="{0D108BD9-81ED-4DB2-BD59-A6C34878D82A}">
                    <a16:rowId xmlns:a16="http://schemas.microsoft.com/office/drawing/2014/main" val="10000"/>
                  </a:ext>
                </a:extLst>
              </a:tr>
              <a:tr h="35179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scan (3).pdf</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3/2/1961</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1961-03-02_county-fair_premium-list.pdf</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Rename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44246E"/>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6642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IMG_0044.png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June 1953</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1953-06_campus-history_marching-band-on-the-quad-2.png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Rename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5179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20241105_091233.png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(blank)</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undated_postcards_main-street-in-winter.png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Rename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66420">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untitled.png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Not in log</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(left alone)</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F1A24"/>
                          </a:solidFill>
                          <a:latin typeface="Lato" pitchFamily="34" charset="0"/>
                          <a:ea typeface="Lato" pitchFamily="34" charset="-122"/>
                          <a:cs typeface="Lato" pitchFamily="34" charset="-120"/>
                        </a:rPr>
                        <a:t>Skip</a:t>
                      </a:r>
                      <a:endParaRPr lang="en-US" sz="1300" dirty="0">
                        <a:latin typeface="Lato" charset="0"/>
                        <a:ea typeface="Lato" charset="0"/>
                        <a:cs typeface="Lato" charset="0"/>
                      </a:endParaRPr>
                    </a:p>
                  </a:txBody>
                  <a:tcPr marL="101600" marR="1016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p:cNvSpPr/>
          <p:nvPr/>
        </p:nvSpPr>
        <p:spPr>
          <a:xfrm>
            <a:off x="914400" y="5676900"/>
            <a:ext cx="10674096"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5B5566"/>
                </a:solidFill>
                <a:latin typeface="Lato" pitchFamily="34" charset="0"/>
                <a:ea typeface="Lato" pitchFamily="34" charset="-122"/>
                <a:cs typeface="Lato" pitchFamily="34" charset="-120"/>
              </a:rPr>
              <a:t>Full answer key: finished\rename-log.example.md. Pi's wording may vary, but the new names should match.</a:t>
            </a:r>
            <a:endParaRPr lang="en-US" sz="1300" dirty="0"/>
          </a:p>
        </p:txBody>
      </p:sp>
    </p:spTree>
  </p:cSld>
  <p:clrMapOvr>
    <a:masterClrMapping/>
  </p:clrMapOvr>
</p:sld>
</file>

<file path=ppt/theme/theme1.xml><?xml version="1.0" encoding="utf-8"?>
<a:theme xmlns:a="http://schemas.openxmlformats.org/drawingml/2006/main" name="Installation and Documentation Review Rehearsal">
  <a:themeElements>
    <a:clrScheme name="Installation and Documentation Review Rehearsal">
      <a:dk1>
        <a:srgbClr val="141413"/>
      </a:dk1>
      <a:lt1>
        <a:srgbClr val="FFFFFF"/>
      </a:lt1>
      <a:dk2>
        <a:srgbClr val="4F4F4E"/>
      </a:dk2>
      <a:lt2>
        <a:srgbClr val="E8E8E7"/>
      </a:lt2>
      <a:accent1>
        <a:srgbClr val="512888"/>
      </a:accent1>
      <a:accent2>
        <a:srgbClr val="2A2133"/>
      </a:accent2>
      <a:accent3>
        <a:srgbClr val="5B5566"/>
      </a:accent3>
      <a:accent4>
        <a:srgbClr val="9AA0A6"/>
      </a:accent4>
      <a:accent5>
        <a:srgbClr val="727271"/>
      </a:accent5>
      <a:accent6>
        <a:srgbClr val="959595"/>
      </a:accent6>
      <a:hlink>
        <a:srgbClr val="0563C1"/>
      </a:hlink>
      <a:folHlink>
        <a:srgbClr val="954F72"/>
      </a:folHlink>
    </a:clrScheme>
    <a:fontScheme name="Installation and Documentation Review Rehearsal">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3529</Words>
  <Application>Microsoft Office PowerPoint</Application>
  <PresentationFormat>Widescreen</PresentationFormat>
  <Paragraphs>228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Lato</vt:lpstr>
      <vt:lpstr>JetBrains Mono</vt:lpstr>
      <vt:lpstr>Arial</vt:lpstr>
      <vt:lpstr>Installation and Documentation Review Rehearsal</vt:lpstr>
      <vt:lpstr>The wait for Pi is over. How a minimalistic agent can adapt to your workflows with ice cream on top</vt:lpstr>
      <vt:lpstr>Installation and Documentation Review</vt:lpstr>
      <vt:lpstr>PowerShell Installation</vt:lpstr>
      <vt:lpstr>Adding a Provider to Pi</vt:lpstr>
      <vt:lpstr>Using Library GPT as a Provider</vt:lpstr>
      <vt:lpstr>Connecting Providers: OAuth vs API Key</vt:lpstr>
      <vt:lpstr>Local Ollama LLM with Pi</vt:lpstr>
      <vt:lpstr>Local Ollama LLM with Pi cont.</vt:lpstr>
      <vt:lpstr>Pi Extensions</vt:lpstr>
      <vt:lpstr>MCP in Pi</vt:lpstr>
      <vt:lpstr>MCP Servers to Try</vt:lpstr>
      <vt:lpstr>Skills Are Harness Agnostic</vt:lpstr>
      <vt:lpstr>Build It: A Scan-Renamer Skill</vt:lpstr>
      <vt:lpstr>Step 1: Fill In the Skill</vt:lpstr>
      <vt:lpstr>Step 2: Run It</vt:lpstr>
      <vt:lpstr>Behind? Run the Finished Version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Installation and Documentation Review Rehearsal</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Sawyer Borror</cp:lastModifiedBy>
  <cp:revision>3</cp:revision>
  <dcterms:created xsi:type="dcterms:W3CDTF">2026-10-22T15:38:00Z</dcterms:created>
  <dcterms:modified xsi:type="dcterms:W3CDTF">2026-10-22T19:32:38Z</dcterms:modified>
</cp:coreProperties>
</file>